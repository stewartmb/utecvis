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8b235fc-71ed-29ce-efe9-5cca94499f70}">
          <p14:sldIdLst>
            <p14:sldId id="256"/>
            <p14:sldId id="257"/>
            <p14:sldId id="258"/>
          </p14:sldIdLst>
        </p14:section>
        <p14:section name="Datos y transformación" id="{c9d9dc7f-ea6d-94fb-75fc-931118376cff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Métricas de red" id="{d38a88c8-3af9-8faf-9460-96e83abc806f}">
          <p14:sldIdLst>
            <p14:sldId id="266"/>
            <p14:sldId id="267"/>
          </p14:sldIdLst>
        </p14:section>
        <p14:section name="Diseño visual" id="{55a75062-d552-8e57-8ccb-176104f9c15d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Sugerencias" id="{ffe0bed8-93fc-269e-cdb2-4caea6170f8b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Hallazgos" id="{fb3827fa-07f1-9330-3303-e9a66073c6ce}">
          <p14:sldIdLst>
            <p14:sldId id="280"/>
            <p14:sldId id="281"/>
            <p14:sldId id="282"/>
            <p14:sldId id="283"/>
            <p14:sldId id="284"/>
          </p14:sldIdLst>
        </p14:section>
        <p14:section name="Cierre" id="{4282b41d-6ecb-c019-aaa9-e7479e594292}">
          <p14:sldIdLst>
            <p14:sldId id="285"/>
            <p14:sldId id="286"/>
            <p14:sldId id="287"/>
          </p14:sldIdLst>
        </p14:section>
        <p14:section name="Anexos" id="{39d14517-0ed7-cbce-9eee-9a4e38763213}">
          <p14:sldIdLst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Abrimos con la vista final de la aplicación (captura C09b, recorte de la app actual, no un prototipo).
UTECVis permite explorar colaboraciones registradas y afinidades entre 104 investigadores de la cohorte extraída de CRIS UTEC.
Límite de la cohorte: la red representa solo las conexiones identificadas dentro de estos 104 perfiles; no es toda la actividad de UTEC ni su colaboración mundial.
No explicamos arquitectura aquí. Completar integrantes y fecha antes de exponer.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Diferenciar 73 parejas de 2.474 publicaciones: una publicación con tres profesores internos genera tres parejas; muchas publicaciones solo tienen un autor de la cohorte y no generan aristas.
57 de los 104 perfiles no tienen conexiones registradas dentro de la cohorte; eso no significa que no colaboren fuera.
Audiencia: coordinadores de investigación de UTEC que exploran la colaboración entre investigadores y departamentos e identifican oportunidades respaldadas por CRIS. El público de la exposición es el curso.
Fuente: directorio de personas de CRIS UTEC, instantánea local incluida en 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tareas expresan qué queremos descubrir; debajo va cómo la vista ayuda y qué recursos (Top %, pesos, B simulada) sirven para resolverlas. Un control no es una tarea.
Seguimos la separación de Brehmer y Munzner: propósito analítico, datos y acciones, representación e interacción.
T2: mantener ambas evidencias; una intermediación alta no garantiza que la persona conecte departamentos distintos.
T3: no concluir que un departamento colabora "mejor" solo por tener más aristas; influye cuántos investigadores contiene.
T4: el cambio de intermediación al añadir sugerencias es un análisis complementario, no parte del enunciado.
Las subpreguntas sobre un departamento, un aislado o un puente particular pertenecen a estas cuatro tareas.
Los cuatro recortes son de la app actual: C11c, C14b, C21 y C22e.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https://cris.utec.edu.pe/es/persons/. Explicar el acceso solo como contexto de adquisición.
Pendiente: la captura C01 del directorio no pudo tomarse en modo automatizado porque el directorio exige una verificación de navegador (Cloudflare); se muestra en vivo o se añade la captura manual antes de exponer.
La extracción completa necesita el entorno descrito en el README (macOS, Safari); la app entregada funciona con datos locales sin scraping ni modelo durante la exposición.
No afirmar que el scraper funciona en cualquier PC con solo abrir un navegador.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Leyendas: “publicado en CRIS” frente a “clasificación interna”.
source_classes conserva las marcas del HTML (researchgroup, center); ASRI puede tener clase center y nombre de instituto.
No unimos personas por nombres parecidos: la identidad es la URL normalizada.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fuente declara líneas de interés; la otra resume conceptos de investigación calculados por CRIS a partir de la producción.
Cobertura: 90 perfiles con intereses, 80 con huella; cinco usan biografía como respaldo.
Los pesos de huella vienen de CRIS (data-rank-value); nosotros solo seleccionamos hasta 20 conceptos por relevancia.
Capturas tomadas el 27-10-2026 desde las URL del perfil y de /fingerprints/.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Evidencia de arista (C06), de participación en proyecto (C07) y límite de cohorte (C08).
Verificado en data/publications.json: la publicación de Stipa obtusa lista a Sergio Candiotti (externo), José Luis Mantari, Carmen Elena Flores y Samuel Charca; los tres últimos tienen faculty_id.
La red de coautores del propio portal CRIS puede incluir otras personas y reglas; no esperar que su número coincida con nuestro grado.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Flujo conceptual: páginas públicas → identidad y campos → trabajos deduplicados → parejas con evidencia → métricas y afinidades → visualización.
Cinco JSON finales, sin carpetas por ejecución. Publicaciones y proyectos contienen contexto que no necesariamente aparece como arista.
Un hash SHA-256 de network.json guardado en analysis.json permite detectar recomendaciones desactualizadas.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F01 diferencia existencia y repetición del vínculo. El peso máximo actual es 8 (Carmen Flores Barreda – Samuel Charca Mamani: 6 publicaciones y 2 proyectos).
Verificación: data/network.json, edge counts {coauthorship: 6, shared_project: 2}.
Por qué retiramos la asociación de 432 registros: un trabajo asociado a un perfil no equivale a una relación individual comprobada; presentarla como colaboraciones personales sería falso.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Cantidades verificadas en data/network.json y data/analysis.json (27-10-2026).
102 afiliaciones relevantes para I no equivale a 95 departamentos: I usa grupos, centros/institutos y departamentos estructurados.
La biografía de respaldo (cinco perfiles) implica menor cobertura temática y se marca en los detalles.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 es un profesor; u recorre sus vecinos registrados; las barras indican cantidad de elementos.
Consultar el dato exacto en el tooltip o el detalle; no medir círculos a ojo.
Jimmy: grado 9, grado ponderado 11, intermediación 0,0680, nodo de articulación. Carmen: grado 7, ponderado 20, B 0,0217.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Separar tres conceptos: arista puente (su retirada aumenta componentes: hay 13), nodo de articulación (hay 9) e intermediación B (posición de paso).
B alta por sí sola no demuestra una conexión entre departamentos: hay que inspeccionar los vecinos y sus afiliaciones. Jimmy tiene 6 vecinos de otros departamentos.
Los números del ejemplo didáctico no son datos de UTEC. Cálculo con NetworkX, weight=None.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Rotular siempre como “versión histórica”. Commit de referencia: 14c8d86 (exclusión de asociaciones colectivas).
La evolución cuenta decisiones, no una colección de interfaces viejas.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Commits: 896ba92 (contraste y colisiones), e5ebb92 (prueba treemap), fde6afd (retirada de la vista circular), a7ecc3a (retirada del ranking global).
Git no guarda capturas: por eso E01–E08 están en presentacion/evidencias/.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qué no otra visualización: la red facilita seguir caminos y vecinos; el treemap explicita pertenencias y tamaños de departamentos; una matriz ayudaría a comparar adyacencias, pero no se implementó.
No decir que el idiom es óptimo universalmente.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completo en la sección 9 de PRESENTACIONES.md. Respetamos las convenciones de la app: color categórico por departamento, línea continua registrada, violeta discontinua sugerida.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Radio y diámetro no son lo mismo; son unidades SVG y el zoom modifica sus píxeles en pantalla. Las fotos aparecen desde 25 px de diámetro en pantalla.
Con sugerencias, k_visible puede superar 9 y el radio superar 51; B puede subir o bajar.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 → zoom/filter → details on demand (Shneiderman). Las tres capturas son del mismo caso a la misma escala de lectura.
Capturas de respaldo de interacción: C24a (tooltip), C24c (hover de arista), C24e (Enter sobre Monica), C24f (arrastre a mitad de camino).
No mostrar botones sin propósito.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 en lenguaje simple: cada texto se convierte en un vector de números tal que textos con significado parecido quedan cerca; el coseno mide esa cercanía (1 = misma dirección).
F09 (IDF) va al anexo A5. Se excluyen Peru y Numerical Example; hasta 20 conceptos por perfil.
No sumamos títulos y abstracts: duplicarían la evidencia de las huellas. No incorporamos citas ni fotos a esta señal.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p_0 = 32/4594 es la base sin coincidencia; p_g = 18/94 la referencia de grupo; p_c la categoría puntuada. Usar fracciones completas, no porcentajes redondeados.
No sumar grupo + centro + departamento ni puntuar compartir UTEC o facultad general. Datos insuficientes → null.
Calibración descriptiva en la misma red observada; no es validación predictiva ni causalidad. Valores guardados en analysis.json → recommendations.metadata.institutional_calibration.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Random Walk with Restart implementado con Personalized PageRank de NetworkX (alpha 0,9, hasta 1.000 iteraciones, tolerancia 1e-12). M es la matriz de transición por pesos salientes; e_A concentra el reinicio en A; P_A(B) es la masa estacionaria en B. El símbolo T elevado es transpuesta.
No es probabilidad de que colaboren. Ecuación completa y leyenda en el anexo A7.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de Cerda–De La Puente verificados en /api/pairs/204309335274068/349372305644751: thematic 0,470273; institutional 0,2059785624; structural 0. R = 0 no impide temática o institución.
Esta pareja ocupa el puesto 1.486 de 5.283 candidatas: no aparece como línea sugerida en el Top 5 %, por eso la mostramos con el dato guardado y usamos Deyby–Ruth como captura de detalle.
Al mover una barra, las otras dos se redistribuyen proporcionalmente para sumar 100 % (60/30/10 → temática 80 % → 80/15/5).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Techo redondea hacia arriba. Rango 0–5 %, paso 0,1, inicio 1 %. Pesos 60/30/10 y sin filtros en las cuatro capturas.
En Colaboradores el tamaño cuenta conexiones visibles: con sugerencias los extremos crecen; al quitarlas vuelven.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reproducidos el 27-10-2026 desde la app (window.utecvis.simulatedBridges): Top 1 % → B 0,0857783, máx 0,0936612, radio 49,11; Top 5 % → B 0,0414820, máx 0,0945888, radio 36,14. Coinciden con la tabla F04 del brief.
Condiciones: sin filtros, pesos 60/30/10, sin pareja extra seleccionada. La leyenda dice “Intermediación simulada” y el tooltip identifica la simulación.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Insight analítico (rúbrica): relación entre hallazgo, señal visual (radio) y métrica (k, W). No llamar a Jimmy “mejor investigador”.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Vecinos de Jimmy (network.json): Nuñez Ochoa y Flores Vega (Electrónica), Valdivia Silva, Parada Quinaya y Rodríguez Reyes (Bioingeniería), Santa-Maria y Horna Muñoz (Civil), Vela Saavedra (Mecánica), Canahuire Cabello (sin departamento).
Vecinos de Monica: Antonini Bova (Industrial), Flores Barreda, Donayre Torres y Rodriguez Zuñiga (Bioingeniería), Tarrillo (Electrónica), Renom Andara (Ciencias).
No confundir B global con cantidad de contactos interdepartamentales.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Cifras calculadas el 27-10-2026 sobre data/network.json. Humanidades: una arista interna entre Antuané De La Flor Basterrechea y Giancarlo Marcone Flores.
No decir que los ocho de Humanidades están mutuamente conectados ni que ninguno colabora fuera de UTEC.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Pesos 60/30/10. Si se modifica la cohorte o los pesos, comprobar la posición en el ranking antes de la demo: no preparar una demo que espere verla en el Top 1 %.
La similitud y la cercanía institucional sugieren una pareja para explorar, no una colaboración.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tres capturas (C22d, C23a, C23b) son la misma pareja con tres juegos de pesos; dentro de cada captura las identidades y los pesos son constantes.
Que una fórmula esté bien implementada no valida sus supuestos como predictor del futuro.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Comandos: python3 -m venv .venv; pip install -r requirements.txt; python -m flask --app app run --port 5050.
No mostrar capturas de terminal en lugar de evidencia analítica. Repositorio: https://github.com/stewartmb/utecvis.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cuatro tareas se cubren de forma exploratoria. No vender el trabajo como predictor validado ni como censo completo de UTEC.
No se usan citas ni h-index para valorar a una persona. Los colaboradores externos no se agregan como nodos.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Distinguir inspiración y decisiones propias. La demo continúa con un caso real y no termina mostrando una lista de tecnologías.
Capturas de respaldo por si falla una interacción: C09, C11, C14d, C21, C22c, C20-top5. La demo no depende de acceso a CRIS.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rúbrica es el criterio, no una calificación obtenida. No prometer 20/20.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Ejemplo fuente → dato: cabecera del perfil de Jimmy → name, department, SERMIC (research_group) → color verde oliva y bloque Electrónica.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Validaciones del ETL: sin autoenlaces, sin aristas duplicadas, peso = número de evidencias, tipos y contadores coherentes con la evidencia.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Cálculo con NetworkX sobre las 73 aristas registradas; las sugerencias nunca entran aquí.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preparación se ejecuta una vez (python -m app.recommendations --prepare) y la app usa los resultados sin cargar el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Guardado en analysis.json → recommendations.metadata.institutional_calibration. Seis positivos en centros son pocos y las parejas comparten investigadores: no es validación predictiva.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Implementado con nx.pagerank(personalization=reset, dangling=reset, nstart=reset, weight='weight').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puntuación sigue en 0–100 y no es una probabilidad.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Rango 0–5 %, paso 0,1, inicio 1 %. Al desactivar la capa desaparecen las aristas sugeridas y los tamaños vuelven a la red observada.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Condiciones reproducibles: sin filtros, pesos 60/30/10, sin pareja extra seleccionada. Valores confirmados en la app el 27-10-2026.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inventar una tarea de descubrir comunidades que la interfaz actual no ofrece.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Detalles y matices de cada fuente en REFERENCIAS.md.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7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65836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402336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OP">
    <p:bg>
      <p:bgPr>
        <a:solidFill>
          <a:srgbClr val="17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88720"/>
            <a:ext cx="11094415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UTECVis · DS5343 Visualización de Datos · UTEC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NNEX">
    <p:bg>
      <p:bgPr>
        <a:solidFill>
          <a:srgbClr val="EE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ANEXO · UTECVis · DS5343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image" Target="../media/image-18-3.jp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image" Target="../media/image-23-3.jpg"/><Relationship Id="rId4" Type="http://schemas.openxmlformats.org/officeDocument/2006/relationships/image" Target="../media/image-23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image" Target="../media/image-24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image" Target="../media/image-27-3.jpg"/><Relationship Id="rId4" Type="http://schemas.openxmlformats.org/officeDocument/2006/relationships/image" Target="../media/image-27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image" Target="../media/image-29-3.jp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jp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UTECVis: colaboración académica y afinidades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40233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Red de 104 investigadores de UTEC, 73 vínculos registrados y sugerencias explicadas</a:t>
            </a:r>
            <a:endParaRPr lang="en-US" sz="2000" dirty="0"/>
          </a:p>
        </p:txBody>
      </p:sp>
      <p:sp>
        <p:nvSpPr>
          <p:cNvPr id="4" name="Texto 1.1"/>
          <p:cNvSpPr txBox="1"/>
          <p:nvPr/>
        </p:nvSpPr>
        <p:spPr>
          <a:xfrm>
            <a:off x="548640" y="57607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DS5343 · Visualización de Datos · Prof. Germain García-Zanabria · 2026-2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Integrantes: [completar nombres]  ·  Fecha de exposición: [completar]</a:t>
            </a:r>
            <a:endParaRPr lang="en-US" sz="1300" dirty="0"/>
          </a:p>
        </p:txBody>
      </p:sp>
      <p:pic>
        <p:nvPicPr>
          <p:cNvPr id="5" name="Captura 1.2" descr="/private/tmp/claude-501/-Users-renzoa--claude-spares-spare-QEcO9z/5d657745-61ee-4cc0-b06a-89114ff83a54/scratchpad/deck/img/app/C09b-zoom-bloqu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610424"/>
            <a:ext cx="4206240" cy="280251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El problema, la audiencia y la cohorte</a:t>
            </a:r>
            <a:endParaRPr lang="en-US" sz="3000" dirty="0"/>
          </a:p>
        </p:txBody>
      </p:sp>
      <p:sp>
        <p:nvSpPr>
          <p:cNvPr id="3" name="Cifra 2.1"/>
          <p:cNvSpPr txBox="1"/>
          <p:nvPr/>
        </p:nvSpPr>
        <p:spPr>
          <a:xfrm>
            <a:off x="548640" y="1280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104</a:t>
            </a:r>
            <a:endParaRPr lang="en-US" sz="4000" dirty="0"/>
          </a:p>
        </p:txBody>
      </p:sp>
      <p:sp>
        <p:nvSpPr>
          <p:cNvPr id="4" name="Etiqueta 2.2"/>
          <p:cNvSpPr txBox="1"/>
          <p:nvPr/>
        </p:nvSpPr>
        <p:spPr>
          <a:xfrm>
            <a:off x="548640" y="2103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investigadores: una persona de la cohorte por nodo</a:t>
            </a:r>
            <a:endParaRPr lang="en-US" sz="1200" dirty="0"/>
          </a:p>
        </p:txBody>
      </p:sp>
      <p:sp>
        <p:nvSpPr>
          <p:cNvPr id="5" name="Cifra 2.3"/>
          <p:cNvSpPr txBox="1"/>
          <p:nvPr/>
        </p:nvSpPr>
        <p:spPr>
          <a:xfrm>
            <a:off x="548640" y="27432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73</a:t>
            </a:r>
            <a:endParaRPr lang="en-US" sz="4000" dirty="0"/>
          </a:p>
        </p:txBody>
      </p:sp>
      <p:sp>
        <p:nvSpPr>
          <p:cNvPr id="6" name="Etiqueta 2.4"/>
          <p:cNvSpPr txBox="1"/>
          <p:nvPr/>
        </p:nvSpPr>
        <p:spPr>
          <a:xfrm>
            <a:off x="548640" y="3566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vínculos registrados: parejas únicas, no 73 publicaciones</a:t>
            </a:r>
            <a:endParaRPr lang="en-US" sz="1200" dirty="0"/>
          </a:p>
        </p:txBody>
      </p:sp>
      <p:sp>
        <p:nvSpPr>
          <p:cNvPr id="7" name="Cifra 2.5"/>
          <p:cNvSpPr txBox="1"/>
          <p:nvPr/>
        </p:nvSpPr>
        <p:spPr>
          <a:xfrm>
            <a:off x="548640" y="4206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2.474</a:t>
            </a:r>
            <a:endParaRPr lang="en-US" sz="4000" dirty="0"/>
          </a:p>
        </p:txBody>
      </p:sp>
      <p:sp>
        <p:nvSpPr>
          <p:cNvPr id="8" name="Etiqueta 2.6"/>
          <p:cNvSpPr txBox="1"/>
          <p:nvPr/>
        </p:nvSpPr>
        <p:spPr>
          <a:xfrm>
            <a:off x="548640" y="5029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publicaciones del catálogo; no todas crean aristas internas</a:t>
            </a:r>
            <a:endParaRPr lang="en-US" sz="1200" dirty="0"/>
          </a:p>
        </p:txBody>
      </p:sp>
      <p:sp>
        <p:nvSpPr>
          <p:cNvPr id="9" name="Texto 2.7"/>
          <p:cNvSpPr txBox="1"/>
          <p:nvPr/>
        </p:nvSpPr>
        <p:spPr>
          <a:xfrm>
            <a:off x="3200400" y="1188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Problema</a:t>
            </a:r>
            <a:endParaRPr lang="en-US" sz="1200" dirty="0"/>
          </a:p>
        </p:txBody>
      </p:sp>
      <p:sp>
        <p:nvSpPr>
          <p:cNvPr id="10" name="Lista 2.8"/>
          <p:cNvSpPr txBox="1"/>
          <p:nvPr/>
        </p:nvSpPr>
        <p:spPr>
          <a:xfrm>
            <a:off x="3200400" y="150876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Las colaboraciones están dispersas en perfiles individuales de CRIS: nadie las ve juntas.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La red representa la evidencia publicada dentro de la cohorte, no toda la actividad de UTEC.</a:t>
            </a:r>
            <a:endParaRPr lang="en-US" sz="1300" dirty="0"/>
          </a:p>
        </p:txBody>
      </p:sp>
      <p:sp>
        <p:nvSpPr>
          <p:cNvPr id="11" name="Texto 2.9"/>
          <p:cNvSpPr txBox="1"/>
          <p:nvPr/>
        </p:nvSpPr>
        <p:spPr>
          <a:xfrm>
            <a:off x="3200400" y="32918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¿Para quién diseñamos UTECVis?</a:t>
            </a:r>
            <a:endParaRPr lang="en-US" sz="1200" dirty="0"/>
          </a:p>
        </p:txBody>
      </p:sp>
      <p:sp>
        <p:nvSpPr>
          <p:cNvPr id="12" name="Texto 2.10"/>
          <p:cNvSpPr txBox="1"/>
          <p:nvPr/>
        </p:nvSpPr>
        <p:spPr>
          <a:xfrm>
            <a:off x="3200400" y="3611880"/>
            <a:ext cx="3840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Para coordinadores de investigación de UTEC que necesitan explorar la colaboración entre investigadores y departamentos, e identificar oportunidades de colaboración respaldadas por información de CRIS.</a:t>
            </a:r>
            <a:endParaRPr lang="en-US" sz="1300" dirty="0"/>
          </a:p>
        </p:txBody>
      </p:sp>
      <p:pic>
        <p:nvPicPr>
          <p:cNvPr id="13" name="Captura 2.11" descr="/private/tmp/claude-501/-Users-renzoa--claude-spares-spare-QEcO9z/5d657745-61ee-4cc0-b06a-89114ff83a54/scratchpad/deck/img/app/C09-panorama-colaborador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983105"/>
            <a:ext cx="4480560" cy="28003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4" name="Texto 2.12"/>
          <p:cNvSpPr txBox="1"/>
          <p:nvPr/>
        </p:nvSpPr>
        <p:spPr>
          <a:xfrm>
            <a:off x="7223760" y="565099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C09 · Panorama de colaboraciones registradas: 104 personas, 73 registradas, sin sugerencias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Cuatro tareas analíticas: qué queremos descubrir</a:t>
            </a:r>
            <a:endParaRPr lang="en-US" sz="3000" dirty="0"/>
          </a:p>
        </p:txBody>
      </p:sp>
      <p:sp>
        <p:nvSpPr>
          <p:cNvPr id="3" name="Tarjeta 3.1"/>
          <p:cNvSpPr/>
          <p:nvPr/>
        </p:nvSpPr>
        <p:spPr>
          <a:xfrm>
            <a:off x="548640" y="1188720"/>
            <a:ext cx="2651760" cy="502920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Rótulo 3.2"/>
          <p:cNvSpPr txBox="1"/>
          <p:nvPr/>
        </p:nvSpPr>
        <p:spPr>
          <a:xfrm>
            <a:off x="685800" y="1325880"/>
            <a:ext cx="548640" cy="292608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T1</a:t>
            </a:r>
            <a:endParaRPr lang="en-US" sz="1000" dirty="0"/>
          </a:p>
        </p:txBody>
      </p:sp>
      <p:sp>
        <p:nvSpPr>
          <p:cNvPr id="5" name="Texto 3.3"/>
          <p:cNvSpPr txBox="1"/>
          <p:nvPr/>
        </p:nvSpPr>
        <p:spPr>
          <a:xfrm>
            <a:off x="685800" y="164592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¿Qué investigadores tienen más colaboradores?</a:t>
            </a:r>
            <a:endParaRPr lang="en-US" sz="1250" dirty="0"/>
          </a:p>
        </p:txBody>
      </p:sp>
      <p:sp>
        <p:nvSpPr>
          <p:cNvPr id="6" name="Texto 3.4"/>
          <p:cNvSpPr txBox="1"/>
          <p:nvPr/>
        </p:nvSpPr>
        <p:spPr>
          <a:xfrm>
            <a:off x="685800" y="28346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El tamaño en Colaboradores localiza a los más conectados; el detalle confirma cuántas personas y trabajos comparten.</a:t>
            </a:r>
            <a:endParaRPr lang="en-US" sz="1000" dirty="0"/>
          </a:p>
        </p:txBody>
      </p:sp>
      <p:sp>
        <p:nvSpPr>
          <p:cNvPr id="7" name="Texto 3.5"/>
          <p:cNvSpPr txBox="1"/>
          <p:nvPr/>
        </p:nvSpPr>
        <p:spPr>
          <a:xfrm>
            <a:off x="685800" y="36118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1"/>
                </a:solidFill>
              </a:rPr>
              <a:t>Recursos: Grado k, trabajos compartidos W; foco y detalle</a:t>
            </a:r>
            <a:endParaRPr lang="en-US" sz="950" dirty="0"/>
          </a:p>
        </p:txBody>
      </p:sp>
      <p:pic>
        <p:nvPicPr>
          <p:cNvPr id="8" name="Captura 3.6" descr="/private/tmp/claude-501/-Users-renzoa--claude-spares-spare-QEcO9z/5d657745-61ee-4cc0-b06a-89114ff83a54/scratchpad/deck/img/app/C11c-jimmy-recor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369157"/>
            <a:ext cx="2377440" cy="145724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9" name="Tarjeta 3.7"/>
          <p:cNvSpPr/>
          <p:nvPr/>
        </p:nvSpPr>
        <p:spPr>
          <a:xfrm>
            <a:off x="3355848" y="1188720"/>
            <a:ext cx="2651760" cy="502920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Rótulo 3.8"/>
          <p:cNvSpPr txBox="1"/>
          <p:nvPr/>
        </p:nvSpPr>
        <p:spPr>
          <a:xfrm>
            <a:off x="3493008" y="1325880"/>
            <a:ext cx="548640" cy="292608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T2</a:t>
            </a:r>
            <a:endParaRPr lang="en-US" sz="1000" dirty="0"/>
          </a:p>
        </p:txBody>
      </p:sp>
      <p:sp>
        <p:nvSpPr>
          <p:cNvPr id="11" name="Texto 3.9"/>
          <p:cNvSpPr txBox="1"/>
          <p:nvPr/>
        </p:nvSpPr>
        <p:spPr>
          <a:xfrm>
            <a:off x="3493008" y="164592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¿Qué investigadores actúan como puentes y cuáles conectan distintos departamentos?</a:t>
            </a:r>
            <a:endParaRPr lang="en-US" sz="1250" dirty="0"/>
          </a:p>
        </p:txBody>
      </p:sp>
      <p:sp>
        <p:nvSpPr>
          <p:cNvPr id="12" name="Texto 3.10"/>
          <p:cNvSpPr txBox="1"/>
          <p:nvPr/>
        </p:nvSpPr>
        <p:spPr>
          <a:xfrm>
            <a:off x="3493008" y="28346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Puentes dimensiona por intermediación; el resaltado de vecinos comprueba si además enlazan departamentos.</a:t>
            </a:r>
            <a:endParaRPr lang="en-US" sz="1000" dirty="0"/>
          </a:p>
        </p:txBody>
      </p:sp>
      <p:sp>
        <p:nvSpPr>
          <p:cNvPr id="13" name="Texto 3.11"/>
          <p:cNvSpPr txBox="1"/>
          <p:nvPr/>
        </p:nvSpPr>
        <p:spPr>
          <a:xfrm>
            <a:off x="3493008" y="36118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1"/>
                </a:solidFill>
              </a:rPr>
              <a:t>Recursos: Intermediación B; vecinos y afiliaciones</a:t>
            </a:r>
            <a:endParaRPr lang="en-US" sz="950" dirty="0"/>
          </a:p>
        </p:txBody>
      </p:sp>
      <p:pic>
        <p:nvPicPr>
          <p:cNvPr id="14" name="Captura 3.12" descr="/private/tmp/claude-501/-Users-renzoa--claude-spares-spare-QEcO9z/5d657745-61ee-4cc0-b06a-89114ff83a54/scratchpad/deck/img/app/C14b-puentes-jimmy-recort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3008" y="4367416"/>
            <a:ext cx="2377440" cy="146072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5" name="Tarjeta 3.13"/>
          <p:cNvSpPr/>
          <p:nvPr/>
        </p:nvSpPr>
        <p:spPr>
          <a:xfrm>
            <a:off x="6163056" y="1188720"/>
            <a:ext cx="2651760" cy="502920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Rótulo 3.14"/>
          <p:cNvSpPr txBox="1"/>
          <p:nvPr/>
        </p:nvSpPr>
        <p:spPr>
          <a:xfrm>
            <a:off x="6300216" y="1325880"/>
            <a:ext cx="548640" cy="292608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T3</a:t>
            </a:r>
            <a:endParaRPr lang="en-US" sz="1000" dirty="0"/>
          </a:p>
        </p:txBody>
      </p:sp>
      <p:sp>
        <p:nvSpPr>
          <p:cNvPr id="17" name="Texto 3.15"/>
          <p:cNvSpPr txBox="1"/>
          <p:nvPr/>
        </p:nvSpPr>
        <p:spPr>
          <a:xfrm>
            <a:off x="6300216" y="164592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¿Cómo se distribuyen las colaboraciones dentro y entre departamentos, y cuáles no presentan conexiones registradas?</a:t>
            </a:r>
            <a:endParaRPr lang="en-US" sz="1250" dirty="0"/>
          </a:p>
        </p:txBody>
      </p:sp>
      <p:sp>
        <p:nvSpPr>
          <p:cNvPr id="18" name="Texto 3.16"/>
          <p:cNvSpPr txBox="1"/>
          <p:nvPr/>
        </p:nvSpPr>
        <p:spPr>
          <a:xfrm>
            <a:off x="6300216" y="28346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El treemap identifica cada departamento; el filtro de la leyenda sigue sus conexiones internas y externas.</a:t>
            </a:r>
            <a:endParaRPr lang="en-US" sz="1000" dirty="0"/>
          </a:p>
        </p:txBody>
      </p:sp>
      <p:sp>
        <p:nvSpPr>
          <p:cNvPr id="19" name="Texto 3.17"/>
          <p:cNvSpPr txBox="1"/>
          <p:nvPr/>
        </p:nvSpPr>
        <p:spPr>
          <a:xfrm>
            <a:off x="6300216" y="36118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1"/>
                </a:solidFill>
              </a:rPr>
              <a:t>Recursos: Treemap, color y filtro; tamaño del departamento</a:t>
            </a:r>
            <a:endParaRPr lang="en-US" sz="950" dirty="0"/>
          </a:p>
        </p:txBody>
      </p:sp>
      <p:pic>
        <p:nvPicPr>
          <p:cNvPr id="20" name="Captura 3.18" descr="/private/tmp/claude-501/-Users-renzoa--claude-spares-spare-QEcO9z/5d657745-61ee-4cc0-b06a-89114ff83a54/scratchpad/deck/img/app/C21-bioingenieria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4354830"/>
            <a:ext cx="2377440" cy="14859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21" name="Tarjeta 3.19"/>
          <p:cNvSpPr/>
          <p:nvPr/>
        </p:nvSpPr>
        <p:spPr>
          <a:xfrm>
            <a:off x="8970264" y="1188720"/>
            <a:ext cx="2651760" cy="502920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2" name="Rótulo 3.20"/>
          <p:cNvSpPr txBox="1"/>
          <p:nvPr/>
        </p:nvSpPr>
        <p:spPr>
          <a:xfrm>
            <a:off x="9107424" y="1325880"/>
            <a:ext cx="548640" cy="292608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T4</a:t>
            </a:r>
            <a:endParaRPr lang="en-US" sz="1000" dirty="0"/>
          </a:p>
        </p:txBody>
      </p:sp>
      <p:sp>
        <p:nvSpPr>
          <p:cNvPr id="23" name="Texto 3.21"/>
          <p:cNvSpPr txBox="1"/>
          <p:nvPr/>
        </p:nvSpPr>
        <p:spPr>
          <a:xfrm>
            <a:off x="9107424" y="164592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¿Qué parejas sin colaboración registrada destacan como posibles colaboradoras según los criterios seleccionados?</a:t>
            </a:r>
            <a:endParaRPr lang="en-US" sz="1250" dirty="0"/>
          </a:p>
        </p:txBody>
      </p:sp>
      <p:sp>
        <p:nvSpPr>
          <p:cNvPr id="24" name="Texto 3.22"/>
          <p:cNvSpPr txBox="1"/>
          <p:nvPr/>
        </p:nvSpPr>
        <p:spPr>
          <a:xfrm>
            <a:off x="9107424" y="28346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Las sugerencias muestran candidatas y permiten compararlas por sus señales.</a:t>
            </a:r>
            <a:endParaRPr lang="en-US" sz="1000" dirty="0"/>
          </a:p>
        </p:txBody>
      </p:sp>
      <p:sp>
        <p:nvSpPr>
          <p:cNvPr id="25" name="Texto 3.23"/>
          <p:cNvSpPr txBox="1"/>
          <p:nvPr/>
        </p:nvSpPr>
        <p:spPr>
          <a:xfrm>
            <a:off x="9107424" y="36118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1"/>
                </a:solidFill>
              </a:rPr>
              <a:t>Recursos: Top %, pesos T/I/R, coincidencias; B simulada como análisis complementario</a:t>
            </a:r>
            <a:endParaRPr lang="en-US" sz="950" dirty="0"/>
          </a:p>
        </p:txBody>
      </p:sp>
      <p:pic>
        <p:nvPicPr>
          <p:cNvPr id="26" name="Captura 3.24" descr="/private/tmp/claude-501/-Users-renzoa--claude-spares-spare-QEcO9z/5d657745-61ee-4cc0-b06a-89114ff83a54/scratchpad/deck/img/app/C22e-luz-luciano-recort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7424" y="4369157"/>
            <a:ext cx="2377440" cy="145724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Fuente pública: CRIS UTEC</a:t>
            </a:r>
            <a:endParaRPr lang="en-US" sz="3000" dirty="0"/>
          </a:p>
        </p:txBody>
      </p:sp>
      <p:pic>
        <p:nvPicPr>
          <p:cNvPr id="3" name="Captura 4.1" descr="/private/tmp/claude-501/-Users-renzoa--claude-spares-spare-QEcO9z/5d657745-61ee-4cc0-b06a-89114ff83a54/scratchpad/deck/img/cris/C02-perfil-jimm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68730"/>
            <a:ext cx="6766560" cy="42291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4" name="Texto 4.2"/>
          <p:cNvSpPr txBox="1"/>
          <p:nvPr/>
        </p:nvSpPr>
        <p:spPr>
          <a:xfrm>
            <a:off x="548640" y="5650992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C02 · cris.utec.edu.pe/es/persons/jimmy-tarrillo-olano/ · capturado el 27-10-2026 · identidad y pertenencias publicadas</a:t>
            </a:r>
            <a:endParaRPr lang="en-US" sz="1100" dirty="0"/>
          </a:p>
        </p:txBody>
      </p:sp>
      <p:sp>
        <p:nvSpPr>
          <p:cNvPr id="5" name="Lista 4.3"/>
          <p:cNvSpPr txBox="1"/>
          <p:nvPr/>
        </p:nvSpPr>
        <p:spPr>
          <a:xfrm>
            <a:off x="7589520" y="1188720"/>
            <a:ext cx="411480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Directorio de personas, perfiles, listados de publicaciones y proyectos, huellas temáticas.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Scraping propio de HTML público; sesión admitida de Safari cuando el acceso directo quedó bloqueado.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Instantánea local: las cifras describen los datos incluidos, no una consulta en tiempo real.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Rutas del perfil: Información general → Huella digital → Proyectos → Publicaciones.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accent5"/>
                </a:solidFill>
              </a:rPr>
              <a:t>No usamos el JSON reducido del profesor como sustituto de nuestra extracción; lo cruzamos y documentamos.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Identidad, departamento y pertenencias</a:t>
            </a:r>
            <a:endParaRPr lang="en-US" sz="3000" dirty="0"/>
          </a:p>
        </p:txBody>
      </p:sp>
      <p:pic>
        <p:nvPicPr>
          <p:cNvPr id="3" name="Captura 5.1" descr="/private/tmp/claude-501/-Users-renzoa--claude-spares-spare-QEcO9z/5d657745-61ee-4cc0-b06a-89114ff83a54/scratchpad/deck/img/cris/C02-cabece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737" y="1188720"/>
            <a:ext cx="5443086" cy="23774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4" name="Texto 5.2"/>
          <p:cNvSpPr txBox="1"/>
          <p:nvPr/>
        </p:nvSpPr>
        <p:spPr>
          <a:xfrm>
            <a:off x="548640" y="363931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Publicado en CRIS: nombre, foto, SERMIC (coordinador), departamento, ORCID</a:t>
            </a:r>
            <a:endParaRPr lang="en-US" sz="1100" dirty="0"/>
          </a:p>
        </p:txBody>
      </p:sp>
      <p:graphicFrame>
        <p:nvGraphicFramePr>
          <p:cNvPr id="6" name="Tabla 5.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06240"/>
          <a:ext cx="56692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0312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Campo nuestro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Dónde se encontró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Ejemplo (Jimmy)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name, source_url, foto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Cabecera del perfil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Jimmy Tarrillo Olano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id (interno)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SHA-256 de la URL canónica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1820964964584464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department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Afiliaciones de la cabecera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Ing. Electrónica y Mecatrónica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affiliations[].type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Clasificación interna por nombre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SERMIC → research_group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organisation_id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Derivado de la URL de la organización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Comparación por identidad, no por texto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Lista 5.4"/>
          <p:cNvSpPr txBox="1"/>
          <p:nvPr/>
        </p:nvSpPr>
        <p:spPr>
          <a:xfrm>
            <a:off x="6492240" y="1188720"/>
            <a:ext cx="52120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El id es nuestro, estable mientras la URL no cambie; no es un ProfessorID oficial de CRIS ni un orden de importancia.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Primer departamento reconocido → color y bloque del treemap. Las demás pertenencias se conservan.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Grupo, centro/instituto y departamento son tipos de organización clasificados por nosotros; CRIS los muestra en una misma lista.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Las URLs de origen se conservan en cada registro para poder verificar.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Intereses declarados y huellas temáticas</a:t>
            </a:r>
            <a:endParaRPr lang="en-US" sz="3000" dirty="0"/>
          </a:p>
        </p:txBody>
      </p:sp>
      <p:pic>
        <p:nvPicPr>
          <p:cNvPr id="3" name="Captura 6.1" descr="/private/tmp/claude-501/-Users-renzoa--claude-spares-spare-QEcO9z/5d657745-61ee-4cc0-b06a-89114ff83a54/scratchpad/deck/img/cris/C03-intereses-jimm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5394960" cy="1445079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4" name="Texto 6.2"/>
          <p:cNvSpPr txBox="1"/>
          <p:nvPr/>
        </p:nvSpPr>
        <p:spPr>
          <a:xfrm>
            <a:off x="548640" y="4645152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C03 · Perfil de Jimmy, sección “Temas de Interés de Investigación”: líneas declaradas por el investigador</a:t>
            </a:r>
            <a:endParaRPr lang="en-US" sz="1100" dirty="0"/>
          </a:p>
        </p:txBody>
      </p:sp>
      <p:pic>
        <p:nvPicPr>
          <p:cNvPr id="5" name="Captura 6.3" descr="/private/tmp/claude-501/-Users-renzoa--claude-spares-spare-QEcO9z/5d657745-61ee-4cc0-b06a-89114ff83a54/scratchpad/deck/img/cris/C04-huella-jimmy-concepto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188720"/>
            <a:ext cx="5394960" cy="286458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6" name="Texto 6.4"/>
          <p:cNvSpPr txBox="1"/>
          <p:nvPr/>
        </p:nvSpPr>
        <p:spPr>
          <a:xfrm>
            <a:off x="6263640" y="4645152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C04 · Huella digital de Jimmy: conceptos ordenados por ponderación; el peso es relevancia, no número de publicaciones</a:t>
            </a:r>
            <a:endParaRPr lang="en-US" sz="1100" dirty="0"/>
          </a:p>
        </p:txBody>
      </p:sp>
      <p:sp>
        <p:nvSpPr>
          <p:cNvPr id="7" name="Tarjeta 6.5"/>
          <p:cNvSpPr/>
          <p:nvPr/>
        </p:nvSpPr>
        <p:spPr>
          <a:xfrm>
            <a:off x="548640" y="534924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Texto 6.6"/>
          <p:cNvSpPr txBox="1"/>
          <p:nvPr/>
        </p:nvSpPr>
        <p:spPr>
          <a:xfrm>
            <a:off x="731520" y="5440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Intereses (research_areas):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“Tolerancia a fallos en FPGAs”, “sistemas reconfigurables”, “sistemas embebidos”…   </a:t>
            </a:r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Huella (fingerprint):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Field Programmable Gate Array (1,00), Soft Error (0,47), Embedded System (0,43). Dos fuentes complementarias que preparan la señal temática T; no crean coautorías ni prueban colaboración.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Publicaciones, proyectos y autores fuera de la cohorte</a:t>
            </a:r>
            <a:endParaRPr lang="en-US" sz="3000" dirty="0"/>
          </a:p>
        </p:txBody>
      </p:sp>
      <p:pic>
        <p:nvPicPr>
          <p:cNvPr id="3" name="Captura 7.1" descr="/private/tmp/claude-501/-Users-renzoa--claude-spares-spare-QEcO9z/5d657745-61ee-4cc0-b06a-89114ff83a54/scratchpad/deck/img/cris/C06-cabece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3657600" cy="109307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4" name="Texto 7.2"/>
          <p:cNvSpPr txBox="1"/>
          <p:nvPr/>
        </p:nvSpPr>
        <p:spPr>
          <a:xfrm>
            <a:off x="548640" y="35478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C06 · Publicación con DOI 10.1016/j.compositesa.2020.105950: Carmen Elena Flores y Samuel Charca como autores individuales (también José Luis Mantari, interno)</a:t>
            </a:r>
            <a:endParaRPr lang="en-US" sz="1100" dirty="0"/>
          </a:p>
        </p:txBody>
      </p:sp>
      <p:pic>
        <p:nvPicPr>
          <p:cNvPr id="5" name="Captura 7.3" descr="/private/tmp/claude-501/-Users-renzoa--claude-spares-spare-QEcO9z/5d657745-61ee-4cc0-b06a-89114ff83a54/scratchpad/deck/img/cris/C07-cabecer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188720"/>
            <a:ext cx="3657600" cy="109307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6" name="Texto 7.4"/>
          <p:cNvSpPr txBox="1"/>
          <p:nvPr/>
        </p:nvSpPr>
        <p:spPr>
          <a:xfrm>
            <a:off x="4343400" y="35478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C07 · Proyecto FONDECYT de paneles de fibrocemento: Carmen (investigadora principal) y Samuel (coinvestigador)</a:t>
            </a:r>
            <a:endParaRPr lang="en-US" sz="1100" dirty="0"/>
          </a:p>
        </p:txBody>
      </p:sp>
      <p:pic>
        <p:nvPicPr>
          <p:cNvPr id="7" name="Captura 7.5" descr="/private/tmp/claude-501/-Users-renzoa--claude-spares-spare-QEcO9z/5d657745-61ee-4cc0-b06a-89114ff83a54/scratchpad/deck/img/cris/C08-cabecera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188720"/>
            <a:ext cx="3566160" cy="1065749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8" name="Texto 7.6"/>
          <p:cNvSpPr txBox="1"/>
          <p:nvPr/>
        </p:nvSpPr>
        <p:spPr>
          <a:xfrm>
            <a:off x="8138160" y="354787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C08 · Guillain–Barré (DOI 10.1002/mgg3.960): Julio Valdivia-Silva y Heinner Guio son nodos; Jaramillo-Valverde, Levano y otros quedan como contexto</a:t>
            </a:r>
            <a:endParaRPr lang="en-US" sz="1100" dirty="0"/>
          </a:p>
        </p:txBody>
      </p:sp>
      <p:sp>
        <p:nvSpPr>
          <p:cNvPr id="9" name="Lista 7.7"/>
          <p:cNvSpPr txBox="1"/>
          <p:nvPr/>
        </p:nvSpPr>
        <p:spPr>
          <a:xfrm>
            <a:off x="548640" y="457200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Arista = coautoría individual reconocida por URL CRIS/ORCID o participación publicada en un mismo proyecto.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Una publicación puede tener muchos autores, pero solo los internos identificados crean nodos y parejas.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faculty_id nulo = fuera de la cohorte o no identificado; no demuestra afiliación externa.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Los externos se conservan en el registro: no se eliminan de la publicación, pero no aumentan grado, B ni 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Transformación con trazabilidad, sin código</a:t>
            </a:r>
            <a:endParaRPr lang="en-US" sz="3000" dirty="0"/>
          </a:p>
        </p:txBody>
      </p:sp>
      <p:sp>
        <p:nvSpPr>
          <p:cNvPr id="3" name="Paso 8.1"/>
          <p:cNvSpPr/>
          <p:nvPr/>
        </p:nvSpPr>
        <p:spPr>
          <a:xfrm>
            <a:off x="548640" y="1234440"/>
            <a:ext cx="1783080" cy="822960"/>
          </a:xfrm>
          <a:prstGeom prst="chevron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4" name="Texto 8.2"/>
          <p:cNvSpPr txBox="1"/>
          <p:nvPr/>
        </p:nvSpPr>
        <p:spPr>
          <a:xfrm>
            <a:off x="1005840" y="123444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Páginas públicas</a:t>
            </a:r>
            <a:endParaRPr lang="en-US" sz="1000" dirty="0"/>
          </a:p>
        </p:txBody>
      </p:sp>
      <p:sp>
        <p:nvSpPr>
          <p:cNvPr id="5" name="Paso 8.3"/>
          <p:cNvSpPr/>
          <p:nvPr/>
        </p:nvSpPr>
        <p:spPr>
          <a:xfrm>
            <a:off x="2423160" y="1234440"/>
            <a:ext cx="1783080" cy="822960"/>
          </a:xfrm>
          <a:prstGeom prst="chevron">
            <a:avLst/>
          </a:prstGeom>
          <a:solidFill>
            <a:schemeClr val="accent2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" name="Texto 8.4"/>
          <p:cNvSpPr txBox="1"/>
          <p:nvPr/>
        </p:nvSpPr>
        <p:spPr>
          <a:xfrm>
            <a:off x="2880360" y="123444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Identidad y campos</a:t>
            </a:r>
            <a:endParaRPr lang="en-US" sz="1000" dirty="0"/>
          </a:p>
        </p:txBody>
      </p:sp>
      <p:sp>
        <p:nvSpPr>
          <p:cNvPr id="7" name="Paso 8.5"/>
          <p:cNvSpPr/>
          <p:nvPr/>
        </p:nvSpPr>
        <p:spPr>
          <a:xfrm>
            <a:off x="4297680" y="1234440"/>
            <a:ext cx="1783080" cy="822960"/>
          </a:xfrm>
          <a:prstGeom prst="chevron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8" name="Texto 8.6"/>
          <p:cNvSpPr txBox="1"/>
          <p:nvPr/>
        </p:nvSpPr>
        <p:spPr>
          <a:xfrm>
            <a:off x="4754880" y="123444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Trabajos deduplicados</a:t>
            </a:r>
            <a:endParaRPr lang="en-US" sz="1000" dirty="0"/>
          </a:p>
        </p:txBody>
      </p:sp>
      <p:sp>
        <p:nvSpPr>
          <p:cNvPr id="9" name="Paso 8.7"/>
          <p:cNvSpPr/>
          <p:nvPr/>
        </p:nvSpPr>
        <p:spPr>
          <a:xfrm>
            <a:off x="6172200" y="1234440"/>
            <a:ext cx="1783080" cy="822960"/>
          </a:xfrm>
          <a:prstGeom prst="chevron">
            <a:avLst/>
          </a:prstGeom>
          <a:solidFill>
            <a:schemeClr val="accent2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0" name="Texto 8.8"/>
          <p:cNvSpPr txBox="1"/>
          <p:nvPr/>
        </p:nvSpPr>
        <p:spPr>
          <a:xfrm>
            <a:off x="6629400" y="123444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Parejas con evidencia</a:t>
            </a:r>
            <a:endParaRPr lang="en-US" sz="1000" dirty="0"/>
          </a:p>
        </p:txBody>
      </p:sp>
      <p:sp>
        <p:nvSpPr>
          <p:cNvPr id="11" name="Paso 8.9"/>
          <p:cNvSpPr/>
          <p:nvPr/>
        </p:nvSpPr>
        <p:spPr>
          <a:xfrm>
            <a:off x="8046720" y="1234440"/>
            <a:ext cx="1783080" cy="822960"/>
          </a:xfrm>
          <a:prstGeom prst="chevron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2" name="Texto 8.10"/>
          <p:cNvSpPr txBox="1"/>
          <p:nvPr/>
        </p:nvSpPr>
        <p:spPr>
          <a:xfrm>
            <a:off x="8503920" y="123444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Métricas y afinidades</a:t>
            </a:r>
            <a:endParaRPr lang="en-US" sz="1000" dirty="0"/>
          </a:p>
        </p:txBody>
      </p:sp>
      <p:sp>
        <p:nvSpPr>
          <p:cNvPr id="13" name="Paso 8.11"/>
          <p:cNvSpPr/>
          <p:nvPr/>
        </p:nvSpPr>
        <p:spPr>
          <a:xfrm>
            <a:off x="9921240" y="1234440"/>
            <a:ext cx="1783080" cy="822960"/>
          </a:xfrm>
          <a:prstGeom prst="chevron">
            <a:avLst/>
          </a:prstGeom>
          <a:solidFill>
            <a:schemeClr val="accent2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4" name="Texto 8.12"/>
          <p:cNvSpPr txBox="1"/>
          <p:nvPr/>
        </p:nvSpPr>
        <p:spPr>
          <a:xfrm>
            <a:off x="10378440" y="123444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Visualización</a:t>
            </a:r>
            <a:endParaRPr lang="en-US" sz="1000" dirty="0"/>
          </a:p>
        </p:txBody>
      </p:sp>
      <p:sp>
        <p:nvSpPr>
          <p:cNvPr id="15" name="Lista 8.13"/>
          <p:cNvSpPr txBox="1"/>
          <p:nvPr/>
        </p:nvSpPr>
        <p:spPr>
          <a:xfrm>
            <a:off x="548640" y="2286000"/>
            <a:ext cx="57607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Normalizar enlaces; una identidad estable por persona (URL), nunca por nombres parecidos.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Normalizar Unicode y espacios; distinguir ausencia (null) de cero.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Clasificar afiliaciones sin sumar varias veces coincidencias relacionadas.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Unificar publicaciones por DOI y, si falta, por URL; proyectos por URL.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Reconocer participantes internos por enlaces explícitos u ORCID; excluir roles de editor, traductor o compilador.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 trabajo con A, B y C produce A–B, A–C y B–C: tres parejas, no tres trabajos.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Métricas solo sobre las 73 aristas registradas; T/I/R preparadas por pareja; B simulada aparte.</a:t>
            </a:r>
            <a:endParaRPr lang="en-US" sz="1300" dirty="0"/>
          </a:p>
        </p:txBody>
      </p:sp>
      <p:graphicFrame>
        <p:nvGraphicFramePr>
          <p:cNvPr id="9" name="Tabla 8.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228600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Archivo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Qué contiene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network.json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Nodos, aristas, pesos, evidencia y métricas observadas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publications.json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2.474 trabajos con autores internos y externos, DOI y origen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projects.json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129 proyectos con participantes y fuente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organisations.json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31 organizaciones, tipo y miembros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analysis.json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Componentes, comunidades y señales T/I/R con metodología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arjeta 8.15"/>
          <p:cNvSpPr/>
          <p:nvPr/>
        </p:nvSpPr>
        <p:spPr>
          <a:xfrm>
            <a:off x="6583680" y="4846320"/>
            <a:ext cx="512064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8" name="Texto 8.16"/>
          <p:cNvSpPr txBox="1"/>
          <p:nvPr/>
        </p:nvSpPr>
        <p:spPr>
          <a:xfrm>
            <a:off x="6766560" y="493776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Ejemplo de deduplicación: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la publicación de Stipa obtusa aparece en los listados de Carmen, Samuel y Mantari; por su DOI se guarda una sola vez (publication:doi:10.1016/j.compositesa.2020.105950) y genera las parejas Carmen–Samuel, Carmen–Mantari y Samuel–Mantari.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Qué cuenta como una conexión (F01)</a:t>
            </a:r>
            <a:endParaRPr lang="en-US" sz="3000" dirty="0"/>
          </a:p>
        </p:txBody>
      </p:sp>
      <p:sp>
        <p:nvSpPr>
          <p:cNvPr id="3" name="Tarjeta 9.1"/>
          <p:cNvSpPr/>
          <p:nvPr/>
        </p:nvSpPr>
        <p:spPr>
          <a:xfrm>
            <a:off x="548640" y="1188720"/>
            <a:ext cx="576072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Fórmula 9.2"/>
          <p:cNvSpPr txBox="1"/>
          <p:nvPr/>
        </p:nvSpPr>
        <p:spPr>
          <a:xfrm>
            <a:off x="731520" y="1298448"/>
            <a:ext cx="539496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w_AB = publicaciones individuales compartidas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+ proyectos compartidos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Carmen–Samuel: 6 + 2 = 8</a:t>
            </a:r>
            <a:endParaRPr lang="en-US" sz="1500" dirty="0"/>
          </a:p>
        </p:txBody>
      </p:sp>
      <p:sp>
        <p:nvSpPr>
          <p:cNvPr id="5" name="Lista 9.3"/>
          <p:cNvSpPr txBox="1"/>
          <p:nvPr/>
        </p:nvSpPr>
        <p:spPr>
          <a:xfrm>
            <a:off x="548640" y="2743200"/>
            <a:ext cx="57607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 y B son profesores; w cuenta trabajos distintos por pareja, no personas. Hay arista si w &gt; 0 bajo las reglas de evidencia.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35 parejas tienen coautoría, 51 comparten proyecto, 13 tienen ambas: 35 + 51 − 13 = 73 (no son conjuntos disjuntos).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Compartir departamento o grupo no crea arista: alimenta la señal institucional I.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accent5"/>
                </a:solidFill>
              </a:rPr>
              <a:t>Autoría colectiva excluida: “The LHCb collaboration” (DOI 10.1007/jhep01(2022)036) asociaba 432 registros a perfiles sin autoría individual confirmada; se retiró del grafo, los registros se conservan.</a:t>
            </a:r>
            <a:endParaRPr lang="en-US" sz="1300" dirty="0"/>
          </a:p>
        </p:txBody>
      </p:sp>
      <p:pic>
        <p:nvPicPr>
          <p:cNvPr id="6" name="Captura 9.4" descr="/private/tmp/claude-501/-Users-renzoa--claude-spares-spare-QEcO9z/5d657745-61ee-4cc0-b06a-89114ff83a54/scratchpad/deck/img/app/C10b-pareja-carmen-samuel-detal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419852"/>
            <a:ext cx="2468880" cy="410973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7" name="Texto 9.5"/>
          <p:cNvSpPr txBox="1"/>
          <p:nvPr/>
        </p:nvSpPr>
        <p:spPr>
          <a:xfrm>
            <a:off x="6583680" y="583387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C10 · Pareja Carmen–Samuel: 8 trabajos, 6 coautorías + 2 proyectos</a:t>
            </a:r>
            <a:endParaRPr lang="en-US" sz="1100" dirty="0"/>
          </a:p>
        </p:txBody>
      </p:sp>
      <p:pic>
        <p:nvPicPr>
          <p:cNvPr id="8" name="Captura 9.6" descr="/private/tmp/claude-501/-Users-renzoa--claude-spares-spare-QEcO9z/5d657745-61ee-4cc0-b06a-89114ff83a54/scratchpad/deck/img/cris/C18-cabecer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3105807"/>
            <a:ext cx="2468880" cy="73782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9" name="Texto 9.7"/>
          <p:cNvSpPr txBox="1"/>
          <p:nvPr/>
        </p:nvSpPr>
        <p:spPr>
          <a:xfrm>
            <a:off x="9235440" y="583387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C18 · Ficha con autor colectivo “The LHCb collaboration”: no es coautoría individual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Cobertura y datos ausentes: null ≠ 0</a:t>
            </a:r>
            <a:endParaRPr lang="en-US" sz="3000" dirty="0"/>
          </a:p>
        </p:txBody>
      </p:sp>
      <p:graphicFrame>
        <p:nvGraphicFramePr>
          <p:cNvPr id="11" name="Tabla 10.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675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188720"/>
                <a:gridCol w="3200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Elemento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Cantidad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Precisión necesaria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Investigadores / nodos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104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Una persona de la cohorte por nodo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Conexiones registradas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73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Parejas únicas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Publicaciones / proyectos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2.474 / 129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Registros deduplicados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Fotos locales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102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Dos perfiles no publican foto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Departamento publicado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95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Nueve sin departamento reconocido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Intereses declarados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90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Ausencia de campo ≠ ausencia de intereses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Huella temática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80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Distinta de los intereses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Afiliaciones relevantes para I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102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No confundir con los 95 departamentos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Biografía como respaldo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Solo si faltan intereses y huellas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Conectados / aislados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47 / 57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Aislados dentro de esta cohorte y definición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Componentes observados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62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Incluyen los 57 aislados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Parejas posibles / candidatas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5.356 / 5.283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Candidatas excluye las 73 registradas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</a:tbl>
          </a:graphicData>
        </a:graphic>
      </p:graphicFrame>
      <p:pic>
        <p:nvPicPr>
          <p:cNvPr id="4" name="Captura 10.2" descr="/private/tmp/claude-501/-Users-renzoa--claude-spares-spare-QEcO9z/5d657745-61ee-4cc0-b06a-89114ff83a54/scratchpad/deck/img/cris/C05-deyby-cabece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1188720"/>
            <a:ext cx="4114800" cy="1797269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5" name="Texto 10.3"/>
          <p:cNvSpPr txBox="1"/>
          <p:nvPr/>
        </p:nvSpPr>
        <p:spPr>
          <a:xfrm>
            <a:off x="7589520" y="39136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Deyby Huamanchahua: sin intereses declarados en los datos, pero con huella y afiliaciones (BIO, RIC, INECOD)</a:t>
            </a:r>
            <a:endParaRPr lang="en-US" sz="1100" dirty="0"/>
          </a:p>
        </p:txBody>
      </p:sp>
      <p:sp>
        <p:nvSpPr>
          <p:cNvPr id="6" name="Tarjeta 10.4"/>
          <p:cNvSpPr/>
          <p:nvPr/>
        </p:nvSpPr>
        <p:spPr>
          <a:xfrm>
            <a:off x="7589520" y="4754880"/>
            <a:ext cx="411480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o 10.5"/>
          <p:cNvSpPr txBox="1"/>
          <p:nvPr/>
        </p:nvSpPr>
        <p:spPr>
          <a:xfrm>
            <a:off x="7772400" y="484632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Un null significa “no disponible o no reconocido”, no cero. La cobertura de las señales se declara en cada detalle de pareja (por ejemplo, 70 % si falta Institución). Que un campo falte no implica que el investigador no tenga intereses o producción.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Colaboradores y trabajos compartidos (F02)</a:t>
            </a:r>
            <a:endParaRPr lang="en-US" sz="3000" dirty="0"/>
          </a:p>
        </p:txBody>
      </p:sp>
      <p:sp>
        <p:nvSpPr>
          <p:cNvPr id="3" name="Tarjeta 11.1"/>
          <p:cNvSpPr/>
          <p:nvPr/>
        </p:nvSpPr>
        <p:spPr>
          <a:xfrm>
            <a:off x="548640" y="1188720"/>
            <a:ext cx="5120640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Fórmula 11.2"/>
          <p:cNvSpPr txBox="1"/>
          <p:nvPr/>
        </p:nvSpPr>
        <p:spPr>
          <a:xfrm>
            <a:off x="731520" y="1298448"/>
            <a:ext cx="47548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k(v) = |vecinos registrados de v|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W(v) = Σ_u w_vu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centralidad(v) = k(v) / (N−1) = 9/103 = 0,0874</a:t>
            </a:r>
            <a:endParaRPr lang="en-US" sz="1400" dirty="0"/>
          </a:p>
        </p:txBody>
      </p:sp>
      <p:sp>
        <p:nvSpPr>
          <p:cNvPr id="5" name="Tarjeta 11.3"/>
          <p:cNvSpPr/>
          <p:nvPr/>
        </p:nvSpPr>
        <p:spPr>
          <a:xfrm>
            <a:off x="548640" y="2926080"/>
            <a:ext cx="512064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6" name="Cifra 11.4"/>
          <p:cNvSpPr txBox="1"/>
          <p:nvPr/>
        </p:nvSpPr>
        <p:spPr>
          <a:xfrm>
            <a:off x="777240" y="3017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k = 9 · W = 11</a:t>
            </a:r>
            <a:endParaRPr lang="en-US" sz="2600" dirty="0"/>
          </a:p>
        </p:txBody>
      </p:sp>
      <p:sp>
        <p:nvSpPr>
          <p:cNvPr id="7" name="Etiqueta 11.5"/>
          <p:cNvSpPr txBox="1"/>
          <p:nvPr/>
        </p:nvSpPr>
        <p:spPr>
          <a:xfrm>
            <a:off x="777240" y="3840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Jimmy Tarrillo Olano: más colaboradores</a:t>
            </a:r>
            <a:endParaRPr lang="en-US" sz="1200" dirty="0"/>
          </a:p>
        </p:txBody>
      </p:sp>
      <p:sp>
        <p:nvSpPr>
          <p:cNvPr id="8" name="Cifra 11.6"/>
          <p:cNvSpPr txBox="1"/>
          <p:nvPr/>
        </p:nvSpPr>
        <p:spPr>
          <a:xfrm>
            <a:off x="3291840" y="3017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k = 7 · W = 20</a:t>
            </a:r>
            <a:endParaRPr lang="en-US" sz="2600" dirty="0"/>
          </a:p>
        </p:txBody>
      </p:sp>
      <p:sp>
        <p:nvSpPr>
          <p:cNvPr id="9" name="Etiqueta 11.7"/>
          <p:cNvSpPr txBox="1"/>
          <p:nvPr/>
        </p:nvSpPr>
        <p:spPr>
          <a:xfrm>
            <a:off x="3291840" y="3840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Carmen Flores Barreda: más trabajos por pareja</a:t>
            </a:r>
            <a:endParaRPr lang="en-US" sz="1200" dirty="0"/>
          </a:p>
        </p:txBody>
      </p:sp>
      <p:sp>
        <p:nvSpPr>
          <p:cNvPr id="10" name="Lista 11.8"/>
          <p:cNvSpPr txBox="1"/>
          <p:nvPr/>
        </p:nvSpPr>
        <p:spPr>
          <a:xfrm>
            <a:off x="548640" y="466344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 responde “¿con cuántas personas?”; W responde la intensidad por parejas. Son preguntas distintas.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W no es la producción total: 20 cuenta trabajos compartidos con vecinos internos, con repetición por pareja.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Máximos actuales: k = 9 y W = 20. La centralidad de grado se guarda, pero no es otra vista.</a:t>
            </a:r>
            <a:endParaRPr lang="en-US" sz="1200" dirty="0"/>
          </a:p>
        </p:txBody>
      </p:sp>
      <p:pic>
        <p:nvPicPr>
          <p:cNvPr id="11" name="Captura 11.9" descr="/private/tmp/claude-501/-Users-renzoa--claude-spares-spare-QEcO9z/5d657745-61ee-4cc0-b06a-89114ff83a54/scratchpad/deck/img/app/C11c-jimmy-recor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2605977"/>
            <a:ext cx="2834640" cy="173748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2" name="Texto 11.10"/>
          <p:cNvSpPr txBox="1"/>
          <p:nvPr/>
        </p:nvSpPr>
        <p:spPr>
          <a:xfrm>
            <a:off x="5943600" y="583387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C11 · Jimmy en Colaboradores: k = 9, W = 11</a:t>
            </a:r>
            <a:endParaRPr lang="en-US" sz="1100" dirty="0"/>
          </a:p>
        </p:txBody>
      </p:sp>
      <p:pic>
        <p:nvPicPr>
          <p:cNvPr id="13" name="Captura 11.11" descr="/private/tmp/claude-501/-Users-renzoa--claude-spares-spare-QEcO9z/5d657745-61ee-4cc0-b06a-89114ff83a54/scratchpad/deck/img/app/C12b-carmen-detall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1191534"/>
            <a:ext cx="2743200" cy="456637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4" name="Texto 11.12"/>
          <p:cNvSpPr txBox="1"/>
          <p:nvPr/>
        </p:nvSpPr>
        <p:spPr>
          <a:xfrm>
            <a:off x="8961120" y="583387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C12 · Carmen: k = 7, W = 20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Intermediación: una posición de paso (F03)</a:t>
            </a:r>
            <a:endParaRPr lang="en-US" sz="3000" dirty="0"/>
          </a:p>
        </p:txBody>
      </p:sp>
      <p:sp>
        <p:nvSpPr>
          <p:cNvPr id="3" name="Tarjeta 12.1"/>
          <p:cNvSpPr/>
          <p:nvPr/>
        </p:nvSpPr>
        <p:spPr>
          <a:xfrm>
            <a:off x="548640" y="1188720"/>
            <a:ext cx="475488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Rótulo 12.2"/>
          <p:cNvSpPr txBox="1"/>
          <p:nvPr/>
        </p:nvSpPr>
        <p:spPr>
          <a:xfrm>
            <a:off x="685800" y="1280160"/>
            <a:ext cx="1463040" cy="292608"/>
          </a:xfrm>
          <a:prstGeom prst="rect">
            <a:avLst/>
          </a:prstGeom>
          <a:solidFill>
            <a:schemeClr val="accent6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EJEMPLO DIDÁCTICO</a:t>
            </a:r>
            <a:endParaRPr lang="en-US" sz="1000" dirty="0"/>
          </a:p>
        </p:txBody>
      </p:sp>
      <p:sp>
        <p:nvSpPr>
          <p:cNvPr id="5" name="Línea 12.3"/>
          <p:cNvSpPr/>
          <p:nvPr/>
        </p:nvSpPr>
        <p:spPr>
          <a:xfrm flipH="1">
            <a:off x="1143000" y="1874520"/>
            <a:ext cx="1371600" cy="50292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6" name="Línea 12.4"/>
          <p:cNvSpPr/>
          <p:nvPr/>
        </p:nvSpPr>
        <p:spPr>
          <a:xfrm>
            <a:off x="2514600" y="1874520"/>
            <a:ext cx="1371600" cy="50292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7" name="Línea 12.5"/>
          <p:cNvSpPr/>
          <p:nvPr/>
        </p:nvSpPr>
        <p:spPr>
          <a:xfrm>
            <a:off x="1143000" y="2377440"/>
            <a:ext cx="1371600" cy="50292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8" name="Línea 12.6"/>
          <p:cNvSpPr/>
          <p:nvPr/>
        </p:nvSpPr>
        <p:spPr>
          <a:xfrm flipH="1">
            <a:off x="2514600" y="2377440"/>
            <a:ext cx="1371600" cy="50292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9" name="Nodo 12.7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Letra 12.8"/>
          <p:cNvSpPr txBox="1"/>
          <p:nvPr/>
        </p:nvSpPr>
        <p:spPr>
          <a:xfrm>
            <a:off x="9144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</a:t>
            </a:r>
            <a:endParaRPr lang="en-US" sz="1200" dirty="0"/>
          </a:p>
        </p:txBody>
      </p:sp>
      <p:sp>
        <p:nvSpPr>
          <p:cNvPr id="11" name="Nodo 12.9"/>
          <p:cNvSpPr/>
          <p:nvPr/>
        </p:nvSpPr>
        <p:spPr>
          <a:xfrm>
            <a:off x="2286000" y="1645920"/>
            <a:ext cx="457200" cy="45720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2" name="Letra 12.10"/>
          <p:cNvSpPr txBox="1"/>
          <p:nvPr/>
        </p:nvSpPr>
        <p:spPr>
          <a:xfrm>
            <a:off x="22860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</a:t>
            </a:r>
            <a:endParaRPr lang="en-US" sz="1200" dirty="0"/>
          </a:p>
        </p:txBody>
      </p:sp>
      <p:sp>
        <p:nvSpPr>
          <p:cNvPr id="13" name="Nodo 12.11"/>
          <p:cNvSpPr/>
          <p:nvPr/>
        </p:nvSpPr>
        <p:spPr>
          <a:xfrm>
            <a:off x="3657600" y="2148840"/>
            <a:ext cx="457200" cy="45720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4" name="Letra 12.12"/>
          <p:cNvSpPr txBox="1"/>
          <p:nvPr/>
        </p:nvSpPr>
        <p:spPr>
          <a:xfrm>
            <a:off x="36576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</a:t>
            </a:r>
            <a:endParaRPr lang="en-US" sz="1200" dirty="0"/>
          </a:p>
        </p:txBody>
      </p:sp>
      <p:sp>
        <p:nvSpPr>
          <p:cNvPr id="15" name="Nodo 12.13"/>
          <p:cNvSpPr/>
          <p:nvPr/>
        </p:nvSpPr>
        <p:spPr>
          <a:xfrm>
            <a:off x="2286000" y="2651760"/>
            <a:ext cx="457200" cy="45720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6" name="Letra 12.14"/>
          <p:cNvSpPr txBox="1"/>
          <p:nvPr/>
        </p:nvSpPr>
        <p:spPr>
          <a:xfrm>
            <a:off x="228600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x</a:t>
            </a:r>
            <a:endParaRPr lang="en-US" sz="1200" dirty="0"/>
          </a:p>
        </p:txBody>
      </p:sp>
      <p:sp>
        <p:nvSpPr>
          <p:cNvPr id="17" name="Texto 12.15"/>
          <p:cNvSpPr txBox="1"/>
          <p:nvPr/>
        </p:nvSpPr>
        <p:spPr>
          <a:xfrm>
            <a:off x="685800" y="32004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Dos caminos mínimos entre s y t; uno pasa por v → la pareja (s,t) aporta 1/2 a B(v). Los extremos no cuentan.</a:t>
            </a:r>
            <a:endParaRPr lang="en-US" sz="1000" dirty="0"/>
          </a:p>
        </p:txBody>
      </p:sp>
      <p:sp>
        <p:nvSpPr>
          <p:cNvPr id="18" name="Tarjeta 12.16"/>
          <p:cNvSpPr/>
          <p:nvPr/>
        </p:nvSpPr>
        <p:spPr>
          <a:xfrm>
            <a:off x="548640" y="3840480"/>
            <a:ext cx="4754880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9" name="Fórmula 12.17"/>
          <p:cNvSpPr txBox="1"/>
          <p:nvPr/>
        </p:nvSpPr>
        <p:spPr>
          <a:xfrm>
            <a:off x="731520" y="3950208"/>
            <a:ext cx="43891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B(v) = [ Σ_{s&lt;t; s,t≠v} σ_st(v)/σ_st ] / [(N−1)(N−2)/2]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divisor = 103 × 102 / 2 = 5.253</a:t>
            </a:r>
            <a:endParaRPr lang="en-US" sz="1300" dirty="0"/>
          </a:p>
        </p:txBody>
      </p:sp>
      <p:sp>
        <p:nvSpPr>
          <p:cNvPr id="20" name="Lista 12.18"/>
          <p:cNvSpPr txBox="1"/>
          <p:nvPr/>
        </p:nvSpPr>
        <p:spPr>
          <a:xfrm>
            <a:off x="548640" y="512064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σ_st: caminos con menos pasos entre s y t; σ_st(v): cuántos atraviesan v. Cada arista vale un paso: no usamos frecuencia de trabajos como distancia.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Parejas desconectadas aportan cero. N = 104 incluye los aislados. Rango teórico 0–1.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Máximo observado: Jimmy, B = 0,0680. No significa 6,8 % de probabilidad de nada.</a:t>
            </a:r>
            <a:endParaRPr lang="en-US" sz="1000" dirty="0"/>
          </a:p>
        </p:txBody>
      </p:sp>
      <p:pic>
        <p:nvPicPr>
          <p:cNvPr id="21" name="Captura 12.19" descr="/private/tmp/claude-501/-Users-renzoa--claude-spares-spare-QEcO9z/5d657745-61ee-4cc0-b06a-89114ff83a54/scratchpad/deck/img/app/C13-puentes-observa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7648" y="1188720"/>
            <a:ext cx="4535424" cy="28346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22" name="Texto 12.20"/>
          <p:cNvSpPr txBox="1"/>
          <p:nvPr/>
        </p:nvSpPr>
        <p:spPr>
          <a:xfrm>
            <a:off x="5486400" y="4096512"/>
            <a:ext cx="621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C13 · Vista Puentes, sugerencias OFF: tamaño por intermediación observada (radio = 7 + 44·√(B/B_max))</a:t>
            </a:r>
            <a:endParaRPr lang="en-US" sz="1100" dirty="0"/>
          </a:p>
        </p:txBody>
      </p:sp>
      <p:pic>
        <p:nvPicPr>
          <p:cNvPr id="23" name="Captura 12.21" descr="/private/tmp/claude-501/-Users-renzoa--claude-spares-spare-QEcO9z/5d657745-61ee-4cc0-b06a-89114ff83a54/scratchpad/deck/img/app/C14b-puentes-jimmy-recort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521" y="4617720"/>
            <a:ext cx="2827679" cy="17373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24" name="Texto 12.22"/>
          <p:cNvSpPr txBox="1"/>
          <p:nvPr/>
        </p:nvSpPr>
        <p:spPr>
          <a:xfrm>
            <a:off x="5486400" y="635508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C14 · Foco sobre Jimmy: vecinos en Bioingeniería, Civil, Mecánica, Electrónica y un perfil sin departamento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Primera representación: fuerzas con contorno circular</a:t>
            </a:r>
            <a:endParaRPr lang="en-US" sz="3000" dirty="0"/>
          </a:p>
        </p:txBody>
      </p:sp>
      <p:pic>
        <p:nvPicPr>
          <p:cNvPr id="3" name="Captura 13.1" descr="/private/tmp/claude-501/-Users-renzoa--claude-spares-spare-QEcO9z/5d657745-61ee-4cc0-b06a-89114ff83a54/scratchpad/deck/img/01-circular-73-arista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3446" y="1188720"/>
            <a:ext cx="3205269" cy="46634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4" name="Texto 13.2"/>
          <p:cNvSpPr txBox="1"/>
          <p:nvPr/>
        </p:nvSpPr>
        <p:spPr>
          <a:xfrm>
            <a:off x="548640" y="592531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E01 · Versión histórica: red depurada de 73 aristas; aislados en el contorno, conectados en el interior</a:t>
            </a:r>
            <a:endParaRPr lang="en-US" sz="1100" dirty="0"/>
          </a:p>
        </p:txBody>
      </p:sp>
      <p:sp>
        <p:nvSpPr>
          <p:cNvPr id="5" name="Lista 13.3"/>
          <p:cNvSpPr txBox="1"/>
          <p:nvPr/>
        </p:nvSpPr>
        <p:spPr>
          <a:xfrm>
            <a:off x="5669280" y="1188720"/>
            <a:ext cx="60350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Ventaja: seguir relaciones entre los 47 conectados era directo; el contorno mantenía visibles los 57 aislados.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Problema: comparar pertenencias entre colores era costoso; un departamento quedaba disperso por toda la figura.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Las pestañas Afinidades y Grupos y el panel de filtros de esta versión fueron retirados después.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accent5"/>
                </a:solidFill>
              </a:rPr>
              <a:t>El círculo no representaba comunidades ni una circunferencia estadística: era solo una regla de colocación.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Ajustes de contraste y prueba del treemap</a:t>
            </a:r>
            <a:endParaRPr lang="en-US" sz="3000" dirty="0"/>
          </a:p>
        </p:txBody>
      </p:sp>
      <p:pic>
        <p:nvPicPr>
          <p:cNvPr id="3" name="Captura 14.1" descr="/private/tmp/claude-501/-Users-renzoa--claude-spares-spare-QEcO9z/5d657745-61ee-4cc0-b06a-89114ff83a54/scratchpad/deck/img/02-circular-contraste-tamano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64" y="1188720"/>
            <a:ext cx="3337472" cy="46634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4" name="Texto 14.2"/>
          <p:cNvSpPr txBox="1"/>
          <p:nvPr/>
        </p:nvSpPr>
        <p:spPr>
          <a:xfrm>
            <a:off x="548640" y="592531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E02 · Histórico: contraste de radios y grosores, colisiones; menús ya retirados</a:t>
            </a:r>
            <a:endParaRPr lang="en-US" sz="1100" dirty="0"/>
          </a:p>
        </p:txBody>
      </p:sp>
      <p:pic>
        <p:nvPicPr>
          <p:cNvPr id="5" name="Captura 14.3" descr="/private/tmp/claude-501/-Users-renzoa--claude-spares-spare-QEcO9z/5d657745-61ee-4cc0-b06a-89114ff83a54/scratchpad/deck/img/03-prueba-treema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664" y="1188720"/>
            <a:ext cx="3337472" cy="46634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6" name="Texto 14.4"/>
          <p:cNvSpPr txBox="1"/>
          <p:nvPr/>
        </p:nvSpPr>
        <p:spPr>
          <a:xfrm>
            <a:off x="4663440" y="592531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E03 · Histórico: primera prueba de treemap; aún con “Vista circular”, ranking y Top 10 %</a:t>
            </a:r>
            <a:endParaRPr lang="en-US" sz="1100" dirty="0"/>
          </a:p>
        </p:txBody>
      </p:sp>
      <p:sp>
        <p:nvSpPr>
          <p:cNvPr id="7" name="Lista 14.5"/>
          <p:cNvSpPr txBox="1"/>
          <p:nvPr/>
        </p:nvSpPr>
        <p:spPr>
          <a:xfrm>
            <a:off x="8869680" y="1188720"/>
            <a:ext cx="283464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Contraste insuficiente entre nodos pequeños y grandes → radio lineal con mínimo 7 y amplitud 44.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Saturación de enlaces → opacidad base 0,38 y foco al pasar el cursor.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Controles repetidos → un solo lugar para tamaño (junto a Colaboradores/Puentes) y la leyenda como único selector de departamento.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Treemap: los bloques institucionales hacen legible la pertenencia sin perder las aristas.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accent5"/>
                </a:solidFill>
              </a:rPr>
              <a:t>Los menús visibles en E03 (vista circular, ranking, Top 10 %) son históricos, no la metodología vigente.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Vista final: treemap + red de fuerzas (F06)</a:t>
            </a:r>
            <a:endParaRPr lang="en-US" sz="3000" dirty="0"/>
          </a:p>
        </p:txBody>
      </p:sp>
      <p:pic>
        <p:nvPicPr>
          <p:cNvPr id="3" name="Captura 15.1" descr="/private/tmp/claude-501/-Users-renzoa--claude-spares-spare-QEcO9z/5d657745-61ee-4cc0-b06a-89114ff83a54/scratchpad/deck/img/app/C09-panorama-colaborador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88720"/>
            <a:ext cx="7461504" cy="46634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4" name="Texto 15.2"/>
          <p:cNvSpPr txBox="1"/>
          <p:nvPr/>
        </p:nvSpPr>
        <p:spPr>
          <a:xfrm>
            <a:off x="548640" y="592531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C09 · Bloques por departamento principal; las aristas entre bloques atraviesan la figura</a:t>
            </a:r>
            <a:endParaRPr lang="en-US" sz="1100" dirty="0"/>
          </a:p>
        </p:txBody>
      </p:sp>
      <p:sp>
        <p:nvSpPr>
          <p:cNvPr id="5" name="Tarjeta 15.3"/>
          <p:cNvSpPr/>
          <p:nvPr/>
        </p:nvSpPr>
        <p:spPr>
          <a:xfrm>
            <a:off x="8321040" y="1188720"/>
            <a:ext cx="338328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6" name="Fórmula 15.4"/>
          <p:cNvSpPr txBox="1"/>
          <p:nvPr/>
        </p:nvSpPr>
        <p:spPr>
          <a:xfrm>
            <a:off x="8503920" y="1298448"/>
            <a:ext cx="30175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área_d / área_total ≈ n_d / N_visible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Computación: 14/104 ≈ 13,46 %</a:t>
            </a:r>
            <a:endParaRPr lang="en-US" sz="1200" dirty="0"/>
          </a:p>
        </p:txBody>
      </p:sp>
      <p:sp>
        <p:nvSpPr>
          <p:cNvPr id="7" name="Lista 15.5"/>
          <p:cNvSpPr txBox="1"/>
          <p:nvPr/>
        </p:nvSpPr>
        <p:spPr>
          <a:xfrm>
            <a:off x="8321040" y="2743200"/>
            <a:ext cx="3383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Área = investigadores visibles; no mide trabajos, grado ni productividad.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Idiom híbrido nodo–enlace con disposición por grupos (Group-in-a-Box, Force in a Box).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Los rectángulos no son comunidades descubiertas ni aristas agregadas entre departamentos.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“Sin departamento” es un bloque de información desconocida (9 perfiles).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Bordes, márgenes y cabeceras consumen superficie: la proporción es aproximada.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Marcas y canales visuales</a:t>
            </a:r>
            <a:endParaRPr lang="en-US" sz="3000" dirty="0"/>
          </a:p>
        </p:txBody>
      </p:sp>
      <p:pic>
        <p:nvPicPr>
          <p:cNvPr id="3" name="Captura 16.1" descr="/private/tmp/claude-501/-Users-renzoa--claude-spares-spare-QEcO9z/5d657745-61ee-4cc0-b06a-89114ff83a54/scratchpad/deck/img/app/C24b-hover-jimmy-recor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207" y="1188720"/>
            <a:ext cx="5072146" cy="31089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4" name="Texto 16.2"/>
          <p:cNvSpPr txBox="1"/>
          <p:nvPr/>
        </p:nvSpPr>
        <p:spPr>
          <a:xfrm>
            <a:off x="548640" y="43708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C24 · Foco sobre un nodo: conexiones relacionadas al 0,95 de opacidad, el resto atenuado; tooltip con k y W</a:t>
            </a:r>
            <a:endParaRPr lang="en-US" sz="1100" dirty="0"/>
          </a:p>
        </p:txBody>
      </p:sp>
      <p:graphicFrame>
        <p:nvGraphicFramePr>
          <p:cNvPr id="17" name="Tabla 16.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188720"/>
          <a:ext cx="5303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0312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Marca / canal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Dato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Límite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Círculo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Investigador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No representa institución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Radio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k visible o B / B_sim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No mide calidad ni producción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Color / borde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Departamento principal (gris = desconocido)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No es comunidad ni importancia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Foto / iniciales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Reconocimiento (fotos desde 25 px)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No es dato del recomendador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Línea continua + grosor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Arista registrada; trabajos compartidos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No indica dirección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Violeta discontinua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Pareja sugerida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Grosor fijo, no ranking de 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Rectángulo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Departamento (área = personas)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No mide colaboración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Posición por fuerzas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Explorar dentro de contenedores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Distancia ≠ similitud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Transparencia / foco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Seguir una selección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No cambia datos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Tooltip / detalle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Lectura bajo demanda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No 104 nombres a la vez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</a:tbl>
          </a:graphicData>
        </a:graphic>
      </p:graphicFrame>
      <p:sp>
        <p:nvSpPr>
          <p:cNvPr id="6" name="Lista 16.4"/>
          <p:cNvSpPr txBox="1"/>
          <p:nvPr/>
        </p:nvSpPr>
        <p:spPr>
          <a:xfrm>
            <a:off x="548640" y="493776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La posición facilita explorar; no mide afinidad ni distancia institucional.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Cuando aparece la foto, el borde conserva el color del departamento.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Transiciones de 300 ms con propósito; se suprimen con movimiento reducido.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Tamaños y grosores con significado (F07, F08)</a:t>
            </a:r>
            <a:endParaRPr lang="en-US" sz="3000" dirty="0"/>
          </a:p>
        </p:txBody>
      </p:sp>
      <p:sp>
        <p:nvSpPr>
          <p:cNvPr id="3" name="Tarjeta 17.1"/>
          <p:cNvSpPr/>
          <p:nvPr/>
        </p:nvSpPr>
        <p:spPr>
          <a:xfrm>
            <a:off x="548640" y="118872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Fórmula 17.2"/>
          <p:cNvSpPr txBox="1"/>
          <p:nvPr/>
        </p:nvSpPr>
        <p:spPr>
          <a:xfrm>
            <a:off x="731520" y="1298448"/>
            <a:ext cx="5120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Colaboradores:  radio = 7 + 44 × k_visible / 9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0, 1, 4, 9  →  7; 11,9; 26,6; 51</a:t>
            </a:r>
            <a:endParaRPr lang="en-US" sz="1300" dirty="0"/>
          </a:p>
        </p:txBody>
      </p:sp>
      <p:sp>
        <p:nvSpPr>
          <p:cNvPr id="5" name="Tarjeta 17.3"/>
          <p:cNvSpPr/>
          <p:nvPr/>
        </p:nvSpPr>
        <p:spPr>
          <a:xfrm>
            <a:off x="548640" y="251460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6" name="Fórmula 17.4"/>
          <p:cNvSpPr txBox="1"/>
          <p:nvPr/>
        </p:nvSpPr>
        <p:spPr>
          <a:xfrm>
            <a:off x="731520" y="2624328"/>
            <a:ext cx="5120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Puentes:  radio = 7 + 44 × √(B_usada / B_max_usada)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máximo 51; si todas las B son 0, todos 7</a:t>
            </a:r>
            <a:endParaRPr lang="en-US" sz="1300" dirty="0"/>
          </a:p>
        </p:txBody>
      </p:sp>
      <p:sp>
        <p:nvSpPr>
          <p:cNvPr id="7" name="Tarjeta 17.5"/>
          <p:cNvSpPr/>
          <p:nvPr/>
        </p:nvSpPr>
        <p:spPr>
          <a:xfrm>
            <a:off x="548640" y="384048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8" name="Fórmula 17.6"/>
          <p:cNvSpPr txBox="1"/>
          <p:nvPr/>
        </p:nvSpPr>
        <p:spPr>
          <a:xfrm>
            <a:off x="731520" y="3950208"/>
            <a:ext cx="5120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grosor(w) = 1,5 + 4,5 × ln(w) / ln(8)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1, 2, 8 → 1,5; 3; 6 px · sugeridas: 1,4 px fijo</a:t>
            </a:r>
            <a:endParaRPr lang="en-US" sz="1200" dirty="0"/>
          </a:p>
        </p:txBody>
      </p:sp>
      <p:sp>
        <p:nvSpPr>
          <p:cNvPr id="9" name="Lista 17.7"/>
          <p:cNvSpPr txBox="1"/>
          <p:nvPr/>
        </p:nvSpPr>
        <p:spPr>
          <a:xfrm>
            <a:off x="548640" y="512064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9 = mayor grado registrado; no cambia al filtrar ni al sugerir. 7 y 44 son constantes visuales, no datos académicos.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Lineal en radio, no en área: elegido para reforzar contraste; reconocemos la distorsión perceptual.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En Puentes la raíz acerca el área a la magnitud; el radio mínimo introduce una base.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Escala logarítmica de grosor: un vínculo de peso 8 no oculta los de peso 1. El conteo exacto está en el detalle.</a:t>
            </a:r>
            <a:endParaRPr lang="en-US" sz="1100" dirty="0"/>
          </a:p>
        </p:txBody>
      </p:sp>
      <p:pic>
        <p:nvPicPr>
          <p:cNvPr id="10" name="Captura 17.8" descr="/private/tmp/claude-501/-Users-renzoa--claude-spares-spare-QEcO9z/5d657745-61ee-4cc0-b06a-89114ff83a54/scratchpad/deck/img/app/C11-jimmy-colaborador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188720"/>
            <a:ext cx="3291840" cy="20574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1" name="Texto 17.9"/>
          <p:cNvSpPr txBox="1"/>
          <p:nvPr/>
        </p:nvSpPr>
        <p:spPr>
          <a:xfrm>
            <a:off x="6309360" y="3319272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C11 · Colaboradores: Jimmy (k = 9) al radio máximo 51</a:t>
            </a:r>
            <a:endParaRPr lang="en-US" sz="1100" dirty="0"/>
          </a:p>
        </p:txBody>
      </p:sp>
      <p:pic>
        <p:nvPicPr>
          <p:cNvPr id="12" name="Captura 17.10" descr="/private/tmp/claude-501/-Users-renzoa--claude-spares-spare-QEcO9z/5d657745-61ee-4cc0-b06a-89114ff83a54/scratchpad/deck/img/app/C13-puentes-observad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3794760"/>
            <a:ext cx="3291840" cy="20574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3" name="Texto 17.11"/>
          <p:cNvSpPr txBox="1"/>
          <p:nvPr/>
        </p:nvSpPr>
        <p:spPr>
          <a:xfrm>
            <a:off x="6309360" y="5925312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C13 · Puentes: mismo nodo, tamaño por √(B/B_max)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El mantra en una interacción real</a:t>
            </a:r>
            <a:endParaRPr lang="en-US" sz="3000" dirty="0"/>
          </a:p>
        </p:txBody>
      </p:sp>
      <p:sp>
        <p:nvSpPr>
          <p:cNvPr id="3" name="Rótulo 18.1"/>
          <p:cNvSpPr txBox="1"/>
          <p:nvPr/>
        </p:nvSpPr>
        <p:spPr>
          <a:xfrm>
            <a:off x="548640" y="1188720"/>
            <a:ext cx="2194560" cy="292608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1 · Panorama</a:t>
            </a:r>
            <a:endParaRPr lang="en-US" sz="1000" dirty="0"/>
          </a:p>
        </p:txBody>
      </p:sp>
      <p:pic>
        <p:nvPicPr>
          <p:cNvPr id="4" name="Captura 18.2" descr="/private/tmp/claude-501/-Users-renzoa--claude-spares-spare-QEcO9z/5d657745-61ee-4cc0-b06a-89114ff83a54/scratchpad/deck/img/app/C09-panorama-colaborador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00200"/>
            <a:ext cx="3511296" cy="21945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5" name="Texto 18.3"/>
          <p:cNvSpPr txBox="1"/>
          <p:nvPr/>
        </p:nvSpPr>
        <p:spPr>
          <a:xfrm>
            <a:off x="548640" y="386791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Toda la cohorte, sin sugerencias</a:t>
            </a:r>
            <a:endParaRPr lang="en-US" sz="1100" dirty="0"/>
          </a:p>
        </p:txBody>
      </p:sp>
      <p:sp>
        <p:nvSpPr>
          <p:cNvPr id="6" name="Rótulo 18.4"/>
          <p:cNvSpPr txBox="1"/>
          <p:nvPr/>
        </p:nvSpPr>
        <p:spPr>
          <a:xfrm>
            <a:off x="4297680" y="1188720"/>
            <a:ext cx="2194560" cy="292608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 · Filtrar / buscar / zoom</a:t>
            </a:r>
            <a:endParaRPr lang="en-US" sz="1000" dirty="0"/>
          </a:p>
        </p:txBody>
      </p:sp>
      <p:pic>
        <p:nvPicPr>
          <p:cNvPr id="7" name="Captura 18.5" descr="/private/tmp/claude-501/-Users-renzoa--claude-spares-spare-QEcO9z/5d657745-61ee-4cc0-b06a-89114ff83a54/scratchpad/deck/img/app/C15b-filtro-bioingenieria-zoo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5112" y="1600200"/>
            <a:ext cx="3511296" cy="21945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8" name="Texto 18.6"/>
          <p:cNvSpPr txBox="1"/>
          <p:nvPr/>
        </p:nvSpPr>
        <p:spPr>
          <a:xfrm>
            <a:off x="4297680" y="386791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Bioingeniería desde la leyenda, con zoom</a:t>
            </a:r>
            <a:endParaRPr lang="en-US" sz="1100" dirty="0"/>
          </a:p>
        </p:txBody>
      </p:sp>
      <p:sp>
        <p:nvSpPr>
          <p:cNvPr id="9" name="Rótulo 18.7"/>
          <p:cNvSpPr txBox="1"/>
          <p:nvPr/>
        </p:nvSpPr>
        <p:spPr>
          <a:xfrm>
            <a:off x="8046720" y="1188720"/>
            <a:ext cx="2194560" cy="292608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3 · Detalle bajo demanda</a:t>
            </a:r>
            <a:endParaRPr lang="en-US" sz="1000" dirty="0"/>
          </a:p>
        </p:txBody>
      </p:sp>
      <p:pic>
        <p:nvPicPr>
          <p:cNvPr id="10" name="Captura 18.8" descr="/private/tmp/claude-501/-Users-renzoa--claude-spares-spare-QEcO9z/5d657745-61ee-4cc0-b06a-89114ff83a54/scratchpad/deck/img/app/C10-pareja-carmen-samue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1600200"/>
            <a:ext cx="3511296" cy="21945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1" name="Texto 18.9"/>
          <p:cNvSpPr txBox="1"/>
          <p:nvPr/>
        </p:nvSpPr>
        <p:spPr>
          <a:xfrm>
            <a:off x="8046720" y="386791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Selección de la pareja Carmen–Samuel</a:t>
            </a:r>
            <a:endParaRPr lang="en-US" sz="1100" dirty="0"/>
          </a:p>
        </p:txBody>
      </p:sp>
      <p:sp>
        <p:nvSpPr>
          <p:cNvPr id="12" name="Lista 18.10"/>
          <p:cNvSpPr txBox="1"/>
          <p:nvPr/>
        </p:nvSpPr>
        <p:spPr>
          <a:xfrm>
            <a:off x="548640" y="475488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Hover sobre nodo o arista: foco y tooltip (mouseenter). Click o Enter: detalle. Escape o ×: volver al panorama.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Arrastre: los enlaces registrados tiran de los vecinos; colisiones y límites del bloque se mantienen (C24f).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Zoom 0,25–5 y Ajustar red; la búsqueda ignora tildes y restaura la visibilidad si la persona estaba filtrada.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Cada paso responde una pregunta distinta: ¿cómo se ve el conjunto? → ¿qué pasa en este departamento? → ¿qué evidencia tiene esta pareja?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Temática T: comparar significados (F09, F10)</a:t>
            </a:r>
            <a:endParaRPr lang="en-US" sz="3000" dirty="0"/>
          </a:p>
        </p:txBody>
      </p:sp>
      <p:sp>
        <p:nvSpPr>
          <p:cNvPr id="3" name="Paso 19.1"/>
          <p:cNvSpPr/>
          <p:nvPr/>
        </p:nvSpPr>
        <p:spPr>
          <a:xfrm>
            <a:off x="548640" y="1188720"/>
            <a:ext cx="1417320" cy="685800"/>
          </a:xfrm>
          <a:prstGeom prst="chevron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4" name="Texto 19.2"/>
          <p:cNvSpPr txBox="1"/>
          <p:nvPr/>
        </p:nvSpPr>
        <p:spPr>
          <a:xfrm>
            <a:off x="932688" y="118872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Intereses + huellas</a:t>
            </a:r>
            <a:endParaRPr lang="en-US" sz="900" dirty="0"/>
          </a:p>
        </p:txBody>
      </p:sp>
      <p:sp>
        <p:nvSpPr>
          <p:cNvPr id="5" name="Paso 19.3"/>
          <p:cNvSpPr/>
          <p:nvPr/>
        </p:nvSpPr>
        <p:spPr>
          <a:xfrm>
            <a:off x="2011680" y="1188720"/>
            <a:ext cx="1417320" cy="685800"/>
          </a:xfrm>
          <a:prstGeom prst="chevron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" name="Texto 19.4"/>
          <p:cNvSpPr txBox="1"/>
          <p:nvPr/>
        </p:nvSpPr>
        <p:spPr>
          <a:xfrm>
            <a:off x="2395728" y="118872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Embeddings MiniLM</a:t>
            </a:r>
            <a:endParaRPr lang="en-US" sz="900" dirty="0"/>
          </a:p>
        </p:txBody>
      </p:sp>
      <p:sp>
        <p:nvSpPr>
          <p:cNvPr id="7" name="Paso 19.5"/>
          <p:cNvSpPr/>
          <p:nvPr/>
        </p:nvSpPr>
        <p:spPr>
          <a:xfrm>
            <a:off x="3474720" y="1188720"/>
            <a:ext cx="1417320" cy="685800"/>
          </a:xfrm>
          <a:prstGeom prst="chevron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8" name="Texto 19.6"/>
          <p:cNvSpPr txBox="1"/>
          <p:nvPr/>
        </p:nvSpPr>
        <p:spPr>
          <a:xfrm>
            <a:off x="3858768" y="118872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Vector por investigador</a:t>
            </a:r>
            <a:endParaRPr lang="en-US" sz="900" dirty="0"/>
          </a:p>
        </p:txBody>
      </p:sp>
      <p:sp>
        <p:nvSpPr>
          <p:cNvPr id="9" name="Paso 19.7"/>
          <p:cNvSpPr/>
          <p:nvPr/>
        </p:nvSpPr>
        <p:spPr>
          <a:xfrm>
            <a:off x="4937760" y="1188720"/>
            <a:ext cx="1417320" cy="685800"/>
          </a:xfrm>
          <a:prstGeom prst="chevron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0" name="Texto 19.8"/>
          <p:cNvSpPr txBox="1"/>
          <p:nvPr/>
        </p:nvSpPr>
        <p:spPr>
          <a:xfrm>
            <a:off x="5321808" y="118872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Coseno → T</a:t>
            </a:r>
            <a:endParaRPr lang="en-US" sz="900" dirty="0"/>
          </a:p>
        </p:txBody>
      </p:sp>
      <p:sp>
        <p:nvSpPr>
          <p:cNvPr id="11" name="Tarjeta 19.9"/>
          <p:cNvSpPr/>
          <p:nvPr/>
        </p:nvSpPr>
        <p:spPr>
          <a:xfrm>
            <a:off x="548640" y="2011680"/>
            <a:ext cx="576072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2" name="Fórmula 19.10"/>
          <p:cNvSpPr txBox="1"/>
          <p:nvPr/>
        </p:nvSpPr>
        <p:spPr>
          <a:xfrm>
            <a:off x="731520" y="2121408"/>
            <a:ext cx="539496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T(A,B) = limitar_0_1[ (v_A · v_B) / (‖v_A‖ ‖v_B‖) ]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v_A = normalizar( promedio(u_A, f_A) )</a:t>
            </a:r>
            <a:endParaRPr lang="en-US" sz="1300" dirty="0"/>
          </a:p>
        </p:txBody>
      </p:sp>
      <p:sp>
        <p:nvSpPr>
          <p:cNvPr id="13" name="Lista 19.11"/>
          <p:cNvSpPr txBox="1"/>
          <p:nvPr/>
        </p:nvSpPr>
        <p:spPr>
          <a:xfrm>
            <a:off x="548640" y="3520440"/>
            <a:ext cx="57607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u_A: promedio de los embeddings de intereses; f_A: promedio de huellas ponderado por relevancia q(c) = peso_CRIS × IDF.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Igual importancia por fuente: más etiquetas no anulan los intereses. Biografía solo si faltan ambas (5 perfiles).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Modelo público preentrenado paraphrase-multilingual-MiniLM-L12-v2, revisión fijada; no lo entrenamos con nuestros perfiles.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Control: “Machine learning” ↔ “Aprendizaje automático” = 0,836; ↔ “Mecánica de suelos y cimentaciones” = 0,146.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accent5"/>
                </a:solidFill>
              </a:rPr>
              <a:t>Similitud semántica ≠ complementariedad científica ni colaboración demostrada.</a:t>
            </a:r>
            <a:endParaRPr lang="en-US" sz="1200" dirty="0"/>
          </a:p>
        </p:txBody>
      </p:sp>
      <p:pic>
        <p:nvPicPr>
          <p:cNvPr id="14" name="Captura 19.12" descr="/private/tmp/claude-501/-Users-renzoa--claude-spares-spare-QEcO9z/5d657745-61ee-4cc0-b06a-89114ff83a54/scratchpad/deck/img/app/C17b-pareja-con-camino-detalle-comple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08495" y="1188720"/>
            <a:ext cx="1619250" cy="46634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5" name="Texto 19.13"/>
          <p:cNvSpPr txBox="1"/>
          <p:nvPr/>
        </p:nvSpPr>
        <p:spPr>
          <a:xfrm>
            <a:off x="6583680" y="592531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C16 · Detalle de pareja: coincidencias, puntuación, tres señales</a:t>
            </a:r>
            <a:endParaRPr lang="en-US" sz="1100" dirty="0"/>
          </a:p>
        </p:txBody>
      </p:sp>
      <p:pic>
        <p:nvPicPr>
          <p:cNvPr id="16" name="Captura 19.14" descr="/private/tmp/claude-501/-Users-renzoa--claude-spares-spare-QEcO9z/5d657745-61ee-4cc0-b06a-89114ff83a54/scratchpad/deck/img/app/C22d-luz-luciano-detalle-complet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2324" y="1188720"/>
            <a:ext cx="1815111" cy="46634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7" name="Texto 19.15"/>
          <p:cNvSpPr txBox="1"/>
          <p:nvPr/>
        </p:nvSpPr>
        <p:spPr>
          <a:xfrm>
            <a:off x="9235440" y="592531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C22 · Luz–Luciano: T = 84,0 con términos relacionados por el modelo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Institución I: valores derivados de la cohorte (F11)</a:t>
            </a:r>
            <a:endParaRPr lang="en-US" sz="3000" dirty="0"/>
          </a:p>
        </p:txBody>
      </p:sp>
      <p:graphicFrame>
        <p:nvGraphicFramePr>
          <p:cNvPr id="21" name="Tabla 20.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"/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Categoría excluyente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Parejas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Registradas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p_c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 × 100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Grupo compartido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94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18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19,15 %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Centro/instituto sin grupo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85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7,06 %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34,48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Departamento sin coincidencia superior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378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17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4,50 %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20,60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Ninguna coincidencia, información suficiente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4.594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32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0,70 %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Información insuficiente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205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no estimada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N/D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arjeta 20.2"/>
          <p:cNvSpPr/>
          <p:nvPr/>
        </p:nvSpPr>
        <p:spPr>
          <a:xfrm>
            <a:off x="548640" y="3566160"/>
            <a:ext cx="6583680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Fórmula 20.3"/>
          <p:cNvSpPr txBox="1"/>
          <p:nvPr/>
        </p:nvSpPr>
        <p:spPr>
          <a:xfrm>
            <a:off x="731520" y="3675888"/>
            <a:ext cx="621792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I(c) = limitar_0_1[ (p_c − p_0) / (p_g − p_0) ]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centro: ((6/85) − (32/4594)) / ((18/94) − (32/4594)) = 0,3448</a:t>
            </a:r>
            <a:endParaRPr lang="en-US" sz="1300" dirty="0"/>
          </a:p>
        </p:txBody>
      </p:sp>
      <p:sp>
        <p:nvSpPr>
          <p:cNvPr id="6" name="Lista 20.4"/>
          <p:cNvSpPr txBox="1"/>
          <p:nvPr/>
        </p:nvSpPr>
        <p:spPr>
          <a:xfrm>
            <a:off x="548640" y="507492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Una sola coincidencia, la más específica: grupo → centro/instituto → departamento → ninguna. Es la prioridad elegida, no un organigrama demostrado.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34,48 es un contraste relativo a compartir grupo; no es 34,48 % de probabilidad de colaborar.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Reemplaza los valores heurísticos 100–70–40. Seis positivos en centros son pocos; las parejas no son independientes.</a:t>
            </a:r>
            <a:endParaRPr lang="en-US" sz="1100" dirty="0"/>
          </a:p>
        </p:txBody>
      </p:sp>
      <p:pic>
        <p:nvPicPr>
          <p:cNvPr id="7" name="Captura 20.5" descr="/private/tmp/claude-501/-Users-renzoa--claude-spares-spare-QEcO9z/5d657745-61ee-4cc0-b06a-89114ff83a54/scratchpad/deck/img/cris/C05-julio-cabece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1188720"/>
            <a:ext cx="4297680" cy="187714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8" name="Texto 20.6"/>
          <p:cNvSpPr txBox="1"/>
          <p:nvPr/>
        </p:nvSpPr>
        <p:spPr>
          <a:xfrm>
            <a:off x="7406640" y="327355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C05 · Julio Valdivia Silva: Centro BIO publicado; con Deyby (también BIO) → I = 34,48</a:t>
            </a:r>
            <a:endParaRPr lang="en-US" sz="1100" dirty="0"/>
          </a:p>
        </p:txBody>
      </p:sp>
      <p:pic>
        <p:nvPicPr>
          <p:cNvPr id="9" name="Captura 20.7" descr="/private/tmp/claude-501/-Users-renzoa--claude-spares-spare-QEcO9z/5d657745-61ee-4cc0-b06a-89114ff83a54/scratchpad/deck/img/cris/C05-flores-luyo-cabecer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3840480"/>
            <a:ext cx="4297680" cy="187714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0" name="Texto 20.8"/>
          <p:cNvSpPr txBox="1"/>
          <p:nvPr/>
        </p:nvSpPr>
        <p:spPr>
          <a:xfrm>
            <a:off x="7406640" y="59253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C05 · Luis Flores Luyo: DADS compartido con Julio Gutierrez Alva → I = 100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Red R: proximidad por colaboradores intermedios (F12)</a:t>
            </a:r>
            <a:endParaRPr lang="en-US" sz="3000" dirty="0"/>
          </a:p>
        </p:txBody>
      </p:sp>
      <p:sp>
        <p:nvSpPr>
          <p:cNvPr id="3" name="Tarjeta 21.1"/>
          <p:cNvSpPr/>
          <p:nvPr/>
        </p:nvSpPr>
        <p:spPr>
          <a:xfrm>
            <a:off x="548640" y="1188720"/>
            <a:ext cx="576072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Nodo 21.2"/>
          <p:cNvSpPr/>
          <p:nvPr/>
        </p:nvSpPr>
        <p:spPr>
          <a:xfrm>
            <a:off x="868680" y="1783080"/>
            <a:ext cx="502920" cy="5029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Letra 21.3"/>
          <p:cNvSpPr txBox="1"/>
          <p:nvPr/>
        </p:nvSpPr>
        <p:spPr>
          <a:xfrm>
            <a:off x="86868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6" name="Nodo 21.4"/>
          <p:cNvSpPr/>
          <p:nvPr/>
        </p:nvSpPr>
        <p:spPr>
          <a:xfrm>
            <a:off x="2514600" y="1417320"/>
            <a:ext cx="457200" cy="45720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Letra 21.5"/>
          <p:cNvSpPr txBox="1"/>
          <p:nvPr/>
        </p:nvSpPr>
        <p:spPr>
          <a:xfrm>
            <a:off x="251460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8" name="Nodo 21.6"/>
          <p:cNvSpPr/>
          <p:nvPr/>
        </p:nvSpPr>
        <p:spPr>
          <a:xfrm>
            <a:off x="2514600" y="2423160"/>
            <a:ext cx="457200" cy="45720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Letra 21.7"/>
          <p:cNvSpPr txBox="1"/>
          <p:nvPr/>
        </p:nvSpPr>
        <p:spPr>
          <a:xfrm>
            <a:off x="251460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10" name="Nodo 21.8"/>
          <p:cNvSpPr/>
          <p:nvPr/>
        </p:nvSpPr>
        <p:spPr>
          <a:xfrm>
            <a:off x="4206240" y="1920240"/>
            <a:ext cx="457200" cy="45720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1" name="Letra 21.9"/>
          <p:cNvSpPr txBox="1"/>
          <p:nvPr/>
        </p:nvSpPr>
        <p:spPr>
          <a:xfrm>
            <a:off x="42062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12" name="Línea 21.10"/>
          <p:cNvSpPr/>
          <p:nvPr/>
        </p:nvSpPr>
        <p:spPr>
          <a:xfrm flipH="1">
            <a:off x="1371600" y="1645920"/>
            <a:ext cx="1143000" cy="36576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3" name="Línea 21.11"/>
          <p:cNvSpPr/>
          <p:nvPr/>
        </p:nvSpPr>
        <p:spPr>
          <a:xfrm>
            <a:off x="1371600" y="2057400"/>
            <a:ext cx="1143000" cy="594360"/>
          </a:xfrm>
          <a:prstGeom prst="line">
            <a:avLst/>
          </a:prstGeom>
          <a:noFill/>
          <a:ln w="50800">
            <a:solidFill>
              <a:schemeClr val="accent1"/>
            </a:solidFill>
            <a:prstDash val="solid"/>
          </a:ln>
        </p:spPr>
      </p:sp>
      <p:sp>
        <p:nvSpPr>
          <p:cNvPr id="14" name="Línea 21.12"/>
          <p:cNvSpPr/>
          <p:nvPr/>
        </p:nvSpPr>
        <p:spPr>
          <a:xfrm>
            <a:off x="2971800" y="1645920"/>
            <a:ext cx="1234440" cy="45720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15" name="Línea 21.13"/>
          <p:cNvSpPr/>
          <p:nvPr/>
        </p:nvSpPr>
        <p:spPr>
          <a:xfrm flipH="1">
            <a:off x="2971800" y="2194560"/>
            <a:ext cx="1234440" cy="45720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16" name="Texto 21.14"/>
          <p:cNvSpPr txBox="1"/>
          <p:nvPr/>
        </p:nvSpPr>
        <p:spPr>
          <a:xfrm>
            <a:off x="1600200" y="1325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peso 2 → 25 %</a:t>
            </a:r>
            <a:endParaRPr lang="en-US" sz="900" dirty="0"/>
          </a:p>
        </p:txBody>
      </p:sp>
      <p:sp>
        <p:nvSpPr>
          <p:cNvPr id="17" name="Texto 21.15"/>
          <p:cNvSpPr txBox="1"/>
          <p:nvPr/>
        </p:nvSpPr>
        <p:spPr>
          <a:xfrm>
            <a:off x="1600200" y="2606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peso 6 → 75 %</a:t>
            </a:r>
            <a:endParaRPr lang="en-US" sz="900" dirty="0"/>
          </a:p>
        </p:txBody>
      </p:sp>
      <p:sp>
        <p:nvSpPr>
          <p:cNvPr id="18" name="Texto 21.16"/>
          <p:cNvSpPr txBox="1"/>
          <p:nvPr/>
        </p:nvSpPr>
        <p:spPr>
          <a:xfrm>
            <a:off x="4754880" y="1325880"/>
            <a:ext cx="1508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Desde A: continuar con 0,90 (vecino proporcional al peso: 22,5 % y 67,5 % del paso) o reiniciar en A con 0,10. Sin salidas → vuelve a A.</a:t>
            </a:r>
            <a:endParaRPr lang="en-US" sz="900" dirty="0"/>
          </a:p>
        </p:txBody>
      </p:sp>
      <p:sp>
        <p:nvSpPr>
          <p:cNvPr id="19" name="Tarjeta 21.17"/>
          <p:cNvSpPr/>
          <p:nvPr/>
        </p:nvSpPr>
        <p:spPr>
          <a:xfrm>
            <a:off x="548640" y="3337560"/>
            <a:ext cx="5760720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0" name="Fórmula 21.18"/>
          <p:cNvSpPr txBox="1"/>
          <p:nvPr/>
        </p:nvSpPr>
        <p:spPr>
          <a:xfrm>
            <a:off x="731520" y="3447288"/>
            <a:ext cx="539496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P_A = 0,90 Mᵀ P_A + 0,10 e_A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R_bruto(A,B) = (P_A(B) + P_B(A)) / 2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R(A,B) = min(1, R_bruto / máx_positivo_entre_no_conectadas)</a:t>
            </a:r>
            <a:endParaRPr lang="en-US" sz="1200" dirty="0"/>
          </a:p>
        </p:txBody>
      </p:sp>
      <p:sp>
        <p:nvSpPr>
          <p:cNvPr id="21" name="Lista 21.19"/>
          <p:cNvSpPr txBox="1"/>
          <p:nvPr/>
        </p:nvSpPr>
        <p:spPr>
          <a:xfrm>
            <a:off x="548640" y="5029200"/>
            <a:ext cx="5760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Promediamos ambas direcciones porque la pareja no tiene dirección; el máximo es global, no cambia con filtros.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 = 0 entre componentes desconectados o desde un aislado: Luz–Luciano comparten temas y departamento con R = 0.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90/10 es un parámetro exploratorio distinto del peso global de Red (10 %). Las sugerencias nunca alimentan R.</a:t>
            </a:r>
            <a:endParaRPr lang="en-US" sz="1100" dirty="0"/>
          </a:p>
        </p:txBody>
      </p:sp>
      <p:pic>
        <p:nvPicPr>
          <p:cNvPr id="22" name="Captura 21.20" descr="/private/tmp/claude-501/-Users-renzoa--claude-spares-spare-QEcO9z/5d657745-61ee-4cc0-b06a-89114ff83a54/scratchpad/deck/img/app/C17a-pareja-con-camin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188720"/>
            <a:ext cx="3657600" cy="2286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23" name="Texto 21.21"/>
          <p:cNvSpPr txBox="1"/>
          <p:nvPr/>
        </p:nvSpPr>
        <p:spPr>
          <a:xfrm>
            <a:off x="6583680" y="354787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C17 · Deyby–Ruth Canahuire: R = 23,6/100 porque existe un camino registrado (grupo RIC, coincidencias de robótica)</a:t>
            </a:r>
            <a:endParaRPr lang="en-US" sz="1100" dirty="0"/>
          </a:p>
        </p:txBody>
      </p:sp>
      <p:pic>
        <p:nvPicPr>
          <p:cNvPr id="24" name="Captura 21.22" descr="/private/tmp/claude-501/-Users-renzoa--claude-spares-spare-QEcO9z/5d657745-61ee-4cc0-b06a-89114ff83a54/scratchpad/deck/img/app/C23b-luz-luciano-institucion100-pantall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4023360"/>
            <a:ext cx="2926080" cy="18288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25" name="Texto 21.23"/>
          <p:cNvSpPr txBox="1"/>
          <p:nvPr/>
        </p:nvSpPr>
        <p:spPr>
          <a:xfrm>
            <a:off x="6583680" y="592531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C17 · Luz–Luciano: sin camino observado, R = 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Cómo se obtiene la puntuación final (F13)</a:t>
            </a:r>
            <a:endParaRPr lang="en-US" sz="3000" dirty="0"/>
          </a:p>
        </p:txBody>
      </p:sp>
      <p:sp>
        <p:nvSpPr>
          <p:cNvPr id="3" name="Tarjeta 22.1"/>
          <p:cNvSpPr/>
          <p:nvPr/>
        </p:nvSpPr>
        <p:spPr>
          <a:xfrm>
            <a:off x="548640" y="1188720"/>
            <a:ext cx="585216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Fórmula 22.2"/>
          <p:cNvSpPr txBox="1"/>
          <p:nvPr/>
        </p:nvSpPr>
        <p:spPr>
          <a:xfrm>
            <a:off x="731520" y="1298448"/>
            <a:ext cx="5486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αT + βI + γR     α = 0,60; β = 0,30; γ = 0,10     mostrado: 100 × S</a:t>
            </a:r>
            <a:endParaRPr lang="en-US" sz="1300" dirty="0"/>
          </a:p>
        </p:txBody>
      </p:sp>
      <p:sp>
        <p:nvSpPr>
          <p:cNvPr id="5" name="Tarjeta 22.3"/>
          <p:cNvSpPr/>
          <p:nvPr/>
        </p:nvSpPr>
        <p:spPr>
          <a:xfrm>
            <a:off x="548640" y="2331720"/>
            <a:ext cx="58521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6" name="Texto 22.4"/>
          <p:cNvSpPr txBox="1"/>
          <p:nvPr/>
        </p:nvSpPr>
        <p:spPr>
          <a:xfrm>
            <a:off x="731520" y="24231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Ejemplo real: Jose Javier Cerda Hernandez – Jose De La Puente Maldonado (mismo departamento, ambos con grado 0)</a:t>
            </a:r>
            <a:endParaRPr lang="en-US" sz="1100" dirty="0"/>
          </a:p>
        </p:txBody>
      </p:sp>
      <p:sp>
        <p:nvSpPr>
          <p:cNvPr id="7" name="Texto 22.5"/>
          <p:cNvSpPr txBox="1"/>
          <p:nvPr/>
        </p:nvSpPr>
        <p:spPr>
          <a:xfrm>
            <a:off x="731520" y="292608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0,470273   I = 0,2059786   R = 0
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0,60×0,470273 + 0,30×0,2059786 + 0,10×0 = 0,343957 → 34,40/100
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Aportes: temática 28,22 + institución 6,18 + red 0 = 34,40</a:t>
            </a:r>
            <a:endParaRPr lang="en-US" sz="1100" dirty="0"/>
          </a:p>
        </p:txBody>
      </p:sp>
      <p:sp>
        <p:nvSpPr>
          <p:cNvPr id="8" name="Tarjeta 22.6"/>
          <p:cNvSpPr/>
          <p:nvPr/>
        </p:nvSpPr>
        <p:spPr>
          <a:xfrm>
            <a:off x="548640" y="4480560"/>
            <a:ext cx="5852160" cy="9144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9" name="Fórmula 22.7"/>
          <p:cNvSpPr txBox="1"/>
          <p:nvPr/>
        </p:nvSpPr>
        <p:spPr>
          <a:xfrm>
            <a:off x="731520" y="4590288"/>
            <a:ext cx="5486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S_faltantes = Σ_disp a_j señal_j / Σ_disp a_j      cobertura = Σ_disp a_j / Σ_todos a_j</a:t>
            </a:r>
            <a:endParaRPr lang="en-US" sz="1100" dirty="0"/>
          </a:p>
        </p:txBody>
      </p:sp>
      <p:sp>
        <p:nvSpPr>
          <p:cNvPr id="10" name="Lista 22.8"/>
          <p:cNvSpPr txBox="1"/>
          <p:nvPr/>
        </p:nvSpPr>
        <p:spPr>
          <a:xfrm>
            <a:off x="548640" y="544068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T/I/R son resultados por pareja; α/β/γ son importancias elegidas por el usuario. 60/30/10 es nuestro escenario inicial.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Si falta una señal se renormaliza y se declara la cobertura (I = null con T = 0,5 → S = 0,4286, cobertura 70 %; I = 0 → S = 0,30, cobertura 100 %).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b="1" dirty="0">
                <a:solidFill>
                  <a:schemeClr val="accent2"/>
                </a:solidFill>
              </a:rPr>
              <a:t>La puntuación es una prioridad exploratoria, no una probabilidad.</a:t>
            </a:r>
            <a:endParaRPr lang="en-US" sz="1000" dirty="0"/>
          </a:p>
        </p:txBody>
      </p:sp>
      <p:pic>
        <p:nvPicPr>
          <p:cNvPr id="11" name="Captura 22.9" descr="/private/tmp/claude-501/-Users-renzoa--claude-spares-spare-QEcO9z/5d657745-61ee-4cc0-b06a-89114ff83a54/scratchpad/deck/img/app/C17b-pareja-con-camino-detalle-comple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4215" y="1188720"/>
            <a:ext cx="1619250" cy="46634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2" name="Texto 22.10"/>
          <p:cNvSpPr txBox="1"/>
          <p:nvPr/>
        </p:nvSpPr>
        <p:spPr>
          <a:xfrm>
            <a:off x="6675120" y="592531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C16 · Deyby–Ruth: 85,4·0,6 + 100·0,3 + 23,6·0,1 = 83,6</a:t>
            </a:r>
            <a:endParaRPr lang="en-US" sz="1100" dirty="0"/>
          </a:p>
        </p:txBody>
      </p:sp>
      <p:pic>
        <p:nvPicPr>
          <p:cNvPr id="13" name="Captura 22.11" descr="/private/tmp/claude-501/-Users-renzoa--claude-spares-spare-QEcO9z/5d657745-61ee-4cc0-b06a-89114ff83a54/scratchpad/deck/img/app/C19-control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1992086"/>
            <a:ext cx="2468880" cy="3056709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4" name="Texto 22.12"/>
          <p:cNvSpPr txBox="1"/>
          <p:nvPr/>
        </p:nvSpPr>
        <p:spPr>
          <a:xfrm>
            <a:off x="9235440" y="592531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Pesos actuales a la vista: 60 / 30 / 10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Qué selecciona Top % (F14)</a:t>
            </a:r>
            <a:endParaRPr lang="en-US" sz="3000" dirty="0"/>
          </a:p>
        </p:txBody>
      </p:sp>
      <p:sp>
        <p:nvSpPr>
          <p:cNvPr id="3" name="Tarjeta 23.1"/>
          <p:cNvSpPr/>
          <p:nvPr/>
        </p:nvSpPr>
        <p:spPr>
          <a:xfrm>
            <a:off x="548640" y="1188720"/>
            <a:ext cx="384048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Fórmula 23.2"/>
          <p:cNvSpPr txBox="1"/>
          <p:nvPr/>
        </p:nvSpPr>
        <p:spPr>
          <a:xfrm>
            <a:off x="731520" y="1298448"/>
            <a:ext cx="347472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parejas = 104×103/2 = 5.356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candidatas = 5.356 − 73 = 5.283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cantidad = techo(candidatas × Top/100)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1 % → 53 · 2 % → 106 · 5 % → 265</a:t>
            </a:r>
            <a:endParaRPr lang="en-US" sz="1200" dirty="0"/>
          </a:p>
        </p:txBody>
      </p:sp>
      <p:sp>
        <p:nvSpPr>
          <p:cNvPr id="5" name="Lista 23.3"/>
          <p:cNvSpPr txBox="1"/>
          <p:nvPr/>
        </p:nvSpPr>
        <p:spPr>
          <a:xfrm>
            <a:off x="548640" y="310896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Fracción del ranking de candidatas visibles, ordenado por S descendente con desempate estable por identificadores. No es un umbral de probabilidad.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Solo se dibujan puntuaciones positivas; los filtros cambian el denominador.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Límite visual 5 %: E_total = 73 + 265 = 338 &lt; 4N = 416 (orientación E &lt; 4N de Munzner, no garantía de legibilidad).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CollaborationViz también limita a 5, pero no justifica ese número ni usa nuestro denominador.</a:t>
            </a:r>
            <a:endParaRPr lang="en-US" sz="1100" dirty="0"/>
          </a:p>
        </p:txBody>
      </p:sp>
      <p:pic>
        <p:nvPicPr>
          <p:cNvPr id="6" name="Captura 23.4" descr="/private/tmp/claude-501/-Users-renzoa--claude-spares-spare-QEcO9z/5d657745-61ee-4cc0-b06a-89114ff83a54/scratchpad/deck/img/app/C19-top0-colaborador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1456" y="1188720"/>
            <a:ext cx="3218688" cy="20116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7" name="Texto 23.5"/>
          <p:cNvSpPr txBox="1"/>
          <p:nvPr/>
        </p:nvSpPr>
        <p:spPr>
          <a:xfrm>
            <a:off x="4663440" y="327355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C19 · Top 0 %: 0 sugeridas</a:t>
            </a:r>
            <a:endParaRPr lang="en-US" sz="1100" dirty="0"/>
          </a:p>
        </p:txBody>
      </p:sp>
      <p:pic>
        <p:nvPicPr>
          <p:cNvPr id="8" name="Captura 23.6" descr="/private/tmp/claude-501/-Users-renzoa--claude-spares-spare-QEcO9z/5d657745-61ee-4cc0-b06a-89114ff83a54/scratchpad/deck/img/app/C19-top1-colaborador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1188720"/>
            <a:ext cx="3218688" cy="20116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9" name="Texto 23.7"/>
          <p:cNvSpPr txBox="1"/>
          <p:nvPr/>
        </p:nvSpPr>
        <p:spPr>
          <a:xfrm>
            <a:off x="8229600" y="327355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C19 · Top 1 %: +53 sugeridas</a:t>
            </a:r>
            <a:endParaRPr lang="en-US" sz="1100" dirty="0"/>
          </a:p>
        </p:txBody>
      </p:sp>
      <p:pic>
        <p:nvPicPr>
          <p:cNvPr id="10" name="Captura 23.8" descr="/private/tmp/claude-501/-Users-renzoa--claude-spares-spare-QEcO9z/5d657745-61ee-4cc0-b06a-89114ff83a54/scratchpad/deck/img/app/C19-top5-colaboradore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3794760"/>
            <a:ext cx="3218688" cy="20116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1" name="Texto 23.9"/>
          <p:cNvSpPr txBox="1"/>
          <p:nvPr/>
        </p:nvSpPr>
        <p:spPr>
          <a:xfrm>
            <a:off x="4663440" y="587959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C19 · Top 5 %: +265 sugeridas</a:t>
            </a:r>
            <a:endParaRPr lang="en-US" sz="1100" dirty="0"/>
          </a:p>
        </p:txBody>
      </p:sp>
      <p:pic>
        <p:nvPicPr>
          <p:cNvPr id="12" name="Captura 23.10" descr="/private/tmp/claude-501/-Users-renzoa--claude-spares-spare-QEcO9z/5d657745-61ee-4cc0-b06a-89114ff83a54/scratchpad/deck/img/app/C22c-luz-luciano-top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7616" y="3794760"/>
            <a:ext cx="3218688" cy="20116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3" name="Texto 23.11"/>
          <p:cNvSpPr txBox="1"/>
          <p:nvPr/>
        </p:nvSpPr>
        <p:spPr>
          <a:xfrm>
            <a:off x="8229600" y="587959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Top 2 % (106): entra Luz–Luciano, puesto 100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Puentes con sugerencias: escenario hipotético (F04)</a:t>
            </a:r>
            <a:endParaRPr lang="en-US" sz="3000" dirty="0"/>
          </a:p>
        </p:txBody>
      </p:sp>
      <p:sp>
        <p:nvSpPr>
          <p:cNvPr id="3" name="Tarjeta 24.1"/>
          <p:cNvSpPr/>
          <p:nvPr/>
        </p:nvSpPr>
        <p:spPr>
          <a:xfrm>
            <a:off x="548640" y="1188720"/>
            <a:ext cx="4572000" cy="82296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Fórmula 24.2"/>
          <p:cNvSpPr txBox="1"/>
          <p:nvPr/>
        </p:nvSpPr>
        <p:spPr>
          <a:xfrm>
            <a:off x="731520" y="1298448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G_sim = (V, E_registradas ∪ E_sugeridas_mostradas); B_sim = F03(G_sim)</a:t>
            </a:r>
            <a:endParaRPr lang="en-US" sz="1100" dirty="0"/>
          </a:p>
        </p:txBody>
      </p:sp>
      <p:graphicFrame>
        <p:nvGraphicFramePr>
          <p:cNvPr id="25" name="Tabla 24.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4572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31520"/>
                <a:gridCol w="914400"/>
                <a:gridCol w="9144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Escenario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Aristas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 de Jimmy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Máximo B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Radio Jimmy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Registradas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73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0,06797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0,06797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51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+ Top 1 %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126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0,08578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0,09366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49,11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+ Top 5 %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338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0,04148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0,09459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36,14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Lista 24.4"/>
          <p:cNvSpPr txBox="1"/>
          <p:nvPr/>
        </p:nvSpPr>
        <p:spPr>
          <a:xfrm>
            <a:off x="548640" y="37490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B puede subir y el radio bajar: también cambia el máximo del escenario que normaliza F07.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Una ruta nueva puede reducir B al evitar que otros pasen por el mismo nodo (Top 5 %).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El perfil conserva la B observada; R y S siguen usando la red observada: B_sim no realimenta las sugerencias.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Un Web Worker calcula el escenario sin bloquear los controles; verificado contra NetworkX.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accent5"/>
                </a:solidFill>
              </a:rPr>
              <a:t>No atribuir al profesor colaboraciones que solo fueron sugeridas.</a:t>
            </a:r>
            <a:endParaRPr lang="en-US" sz="1100" dirty="0"/>
          </a:p>
        </p:txBody>
      </p:sp>
      <p:pic>
        <p:nvPicPr>
          <p:cNvPr id="7" name="Captura 24.5" descr="/private/tmp/claude-501/-Users-renzoa--claude-spares-spare-QEcO9z/5d657745-61ee-4cc0-b06a-89114ff83a54/scratchpad/deck/img/app/C20-top0-puentes-jimm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2704" y="1188720"/>
            <a:ext cx="2633472" cy="16459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8" name="Texto 24.6"/>
          <p:cNvSpPr txBox="1"/>
          <p:nvPr/>
        </p:nvSpPr>
        <p:spPr>
          <a:xfrm>
            <a:off x="5394960" y="29077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C20 · Top 0 %: intermediación observada</a:t>
            </a:r>
            <a:endParaRPr lang="en-US" sz="1100" dirty="0"/>
          </a:p>
        </p:txBody>
      </p:sp>
      <p:pic>
        <p:nvPicPr>
          <p:cNvPr id="9" name="Captura 24.7" descr="/private/tmp/claude-501/-Users-renzoa--claude-spares-spare-QEcO9z/5d657745-61ee-4cc0-b06a-89114ff83a54/scratchpad/deck/img/app/C20-top1-puentes-jimm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3104" y="1188720"/>
            <a:ext cx="2633472" cy="16459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0" name="Texto 24.8"/>
          <p:cNvSpPr txBox="1"/>
          <p:nvPr/>
        </p:nvSpPr>
        <p:spPr>
          <a:xfrm>
            <a:off x="8595360" y="29077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C20 · Top 1 %: B simulada 0,0858</a:t>
            </a:r>
            <a:endParaRPr lang="en-US" sz="1100" dirty="0"/>
          </a:p>
        </p:txBody>
      </p:sp>
      <p:pic>
        <p:nvPicPr>
          <p:cNvPr id="11" name="Captura 24.9" descr="/private/tmp/claude-501/-Users-renzoa--claude-spares-spare-QEcO9z/5d657745-61ee-4cc0-b06a-89114ff83a54/scratchpad/deck/img/app/C20-top5-puentes-jimmy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2704" y="3429000"/>
            <a:ext cx="2633472" cy="16459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2" name="Texto 24.10"/>
          <p:cNvSpPr txBox="1"/>
          <p:nvPr/>
        </p:nvSpPr>
        <p:spPr>
          <a:xfrm>
            <a:off x="5394960" y="514807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C20 · Top 5 %: B simulada 0,0415</a:t>
            </a:r>
            <a:endParaRPr lang="en-US" sz="1100" dirty="0"/>
          </a:p>
        </p:txBody>
      </p:sp>
      <p:pic>
        <p:nvPicPr>
          <p:cNvPr id="13" name="Captura 24.11" descr="/private/tmp/claude-501/-Users-renzoa--claude-spares-spare-QEcO9z/5d657745-61ee-4cc0-b06a-89114ff83a54/scratchpad/deck/img/app/C20-jimmy-detalle-simulada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5729" y="3429000"/>
            <a:ext cx="1428222" cy="23774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4" name="Texto 24.12"/>
          <p:cNvSpPr txBox="1"/>
          <p:nvPr/>
        </p:nvSpPr>
        <p:spPr>
          <a:xfrm>
            <a:off x="8595360" y="58795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Detalle: B observada y simulada por separado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Hallazgo 1 · Colaboradores e intensidad difieren</a:t>
            </a:r>
            <a:endParaRPr lang="en-US" sz="3000" dirty="0"/>
          </a:p>
        </p:txBody>
      </p:sp>
      <p:sp>
        <p:nvSpPr>
          <p:cNvPr id="3" name="Tarjeta 25.1"/>
          <p:cNvSpPr/>
          <p:nvPr/>
        </p:nvSpPr>
        <p:spPr>
          <a:xfrm>
            <a:off x="548640" y="1188720"/>
            <a:ext cx="51206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Cifra 25.2"/>
          <p:cNvSpPr txBox="1"/>
          <p:nvPr/>
        </p:nvSpPr>
        <p:spPr>
          <a:xfrm>
            <a:off x="777240" y="1280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 / 11</a:t>
            </a:r>
            <a:endParaRPr lang="en-US" sz="4000" dirty="0"/>
          </a:p>
        </p:txBody>
      </p:sp>
      <p:sp>
        <p:nvSpPr>
          <p:cNvPr id="5" name="Etiqueta 25.3"/>
          <p:cNvSpPr txBox="1"/>
          <p:nvPr/>
        </p:nvSpPr>
        <p:spPr>
          <a:xfrm>
            <a:off x="777240" y="2103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Jimmy Tarrillo Olano · k / W</a:t>
            </a:r>
            <a:endParaRPr lang="en-US" sz="1200" dirty="0"/>
          </a:p>
        </p:txBody>
      </p:sp>
      <p:sp>
        <p:nvSpPr>
          <p:cNvPr id="6" name="Cifra 25.4"/>
          <p:cNvSpPr txBox="1"/>
          <p:nvPr/>
        </p:nvSpPr>
        <p:spPr>
          <a:xfrm>
            <a:off x="3291840" y="1280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7 / 20</a:t>
            </a:r>
            <a:endParaRPr lang="en-US" sz="4000" dirty="0"/>
          </a:p>
        </p:txBody>
      </p:sp>
      <p:sp>
        <p:nvSpPr>
          <p:cNvPr id="7" name="Etiqueta 25.5"/>
          <p:cNvSpPr txBox="1"/>
          <p:nvPr/>
        </p:nvSpPr>
        <p:spPr>
          <a:xfrm>
            <a:off x="3291840" y="2103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Carmen Flores Barreda · k / W</a:t>
            </a:r>
            <a:endParaRPr lang="en-US" sz="1200" dirty="0"/>
          </a:p>
        </p:txBody>
      </p:sp>
      <p:sp>
        <p:nvSpPr>
          <p:cNvPr id="8" name="Lista 25.6"/>
          <p:cNvSpPr txBox="1"/>
          <p:nvPr/>
        </p:nvSpPr>
        <p:spPr>
          <a:xfrm>
            <a:off x="548640" y="3474720"/>
            <a:ext cx="5120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Jimmy tiene más colaboradores distintos; Carmen concentra más trabajos por pareja (8 con Samuel Charca).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Tarea T1: localizar extremos por tamaño en Colaboradores y confirmar los valores exactos en el detalle.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W = 20 no son 20 publicaciones únicas: cuenta trabajos compartidos por pareja con repetición.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Conclusión limitada a la cohorte y a la definición de trabajos; la app ya no tiene un ranking global.</a:t>
            </a:r>
            <a:endParaRPr lang="en-US" sz="1200" dirty="0"/>
          </a:p>
        </p:txBody>
      </p:sp>
      <p:pic>
        <p:nvPicPr>
          <p:cNvPr id="9" name="Captura 25.7" descr="/private/tmp/claude-501/-Users-renzoa--claude-spares-spare-QEcO9z/5d657745-61ee-4cc0-b06a-89114ff83a54/scratchpad/deck/img/app/C11-jimmy-colaborador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1464" y="1188720"/>
            <a:ext cx="3364992" cy="21031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0" name="Texto 25.8"/>
          <p:cNvSpPr txBox="1"/>
          <p:nvPr/>
        </p:nvSpPr>
        <p:spPr>
          <a:xfrm>
            <a:off x="5943600" y="336499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C11 · Jimmy seleccionado: 9 colaboradores, 11 registros</a:t>
            </a:r>
            <a:endParaRPr lang="en-US" sz="1100" dirty="0"/>
          </a:p>
        </p:txBody>
      </p:sp>
      <p:pic>
        <p:nvPicPr>
          <p:cNvPr id="11" name="Captura 25.9" descr="/private/tmp/claude-501/-Users-renzoa--claude-spares-spare-QEcO9z/5d657745-61ee-4cc0-b06a-89114ff83a54/scratchpad/deck/img/app/C12-carmen-colaborador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1464" y="3794760"/>
            <a:ext cx="3364992" cy="21031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2" name="Texto 25.10"/>
          <p:cNvSpPr txBox="1"/>
          <p:nvPr/>
        </p:nvSpPr>
        <p:spPr>
          <a:xfrm>
            <a:off x="5943600" y="597103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C12 · Carmen seleccionada: 7 colaboradores, 20 registros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Hallazgo 2 · Puentes y departamentos</a:t>
            </a:r>
            <a:endParaRPr lang="en-US" sz="3000" dirty="0"/>
          </a:p>
        </p:txBody>
      </p:sp>
      <p:sp>
        <p:nvSpPr>
          <p:cNvPr id="3" name="Tarjeta 26.1"/>
          <p:cNvSpPr/>
          <p:nvPr/>
        </p:nvSpPr>
        <p:spPr>
          <a:xfrm>
            <a:off x="548640" y="1188720"/>
            <a:ext cx="51206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Cifra 26.2"/>
          <p:cNvSpPr txBox="1"/>
          <p:nvPr/>
        </p:nvSpPr>
        <p:spPr>
          <a:xfrm>
            <a:off x="777240" y="1280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0,0680</a:t>
            </a:r>
            <a:endParaRPr lang="en-US" sz="4000" dirty="0"/>
          </a:p>
        </p:txBody>
      </p:sp>
      <p:sp>
        <p:nvSpPr>
          <p:cNvPr id="5" name="Etiqueta 26.3"/>
          <p:cNvSpPr txBox="1"/>
          <p:nvPr/>
        </p:nvSpPr>
        <p:spPr>
          <a:xfrm>
            <a:off x="777240" y="2103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Jimmy · B observada · articulación · 6 vecinos de otros dptos.</a:t>
            </a:r>
            <a:endParaRPr lang="en-US" sz="1200" dirty="0"/>
          </a:p>
        </p:txBody>
      </p:sp>
      <p:sp>
        <p:nvSpPr>
          <p:cNvPr id="6" name="Cifra 26.4"/>
          <p:cNvSpPr txBox="1"/>
          <p:nvPr/>
        </p:nvSpPr>
        <p:spPr>
          <a:xfrm>
            <a:off x="3291840" y="1280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0,0523</a:t>
            </a:r>
            <a:endParaRPr lang="en-US" sz="4000" dirty="0"/>
          </a:p>
        </p:txBody>
      </p:sp>
      <p:sp>
        <p:nvSpPr>
          <p:cNvPr id="7" name="Etiqueta 26.5"/>
          <p:cNvSpPr txBox="1"/>
          <p:nvPr/>
        </p:nvSpPr>
        <p:spPr>
          <a:xfrm>
            <a:off x="3291840" y="2103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Monica Santa-Maria · B · articulación · k = 6, W = 9</a:t>
            </a:r>
            <a:endParaRPr lang="en-US" sz="1200" dirty="0"/>
          </a:p>
        </p:txBody>
      </p:sp>
      <p:sp>
        <p:nvSpPr>
          <p:cNvPr id="8" name="Lista 26.6"/>
          <p:cNvSpPr txBox="1"/>
          <p:nvPr/>
        </p:nvSpPr>
        <p:spPr>
          <a:xfrm>
            <a:off x="548640" y="3474720"/>
            <a:ext cx="5120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Jimmy (Electrónica) conecta con Bioingeniería, Civil, Mecánica y un perfil sin departamento; Monica (Civil) con Industrial, Bioingeniería, Electrónica y Ciencias.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Tarea T2: localizar B alta en Puentes y comprobar en el detalle los vecinos y sus departamentos.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Máximos locales no son B recalculada por departamento: Carmen es máxima en Bioingeniería (0,0217) y Claudia Antonini en Industrial (0,0274).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accent5"/>
                </a:solidFill>
              </a:rPr>
              <a:t>B alta no demuestra por sí sola un vínculo entre departamentos: hay que inspeccionar vecinos.</a:t>
            </a:r>
            <a:endParaRPr lang="en-US" sz="1100" dirty="0"/>
          </a:p>
        </p:txBody>
      </p:sp>
      <p:pic>
        <p:nvPicPr>
          <p:cNvPr id="9" name="Captura 26.7" descr="/private/tmp/claude-501/-Users-renzoa--claude-spares-spare-QEcO9z/5d657745-61ee-4cc0-b06a-89114ff83a54/scratchpad/deck/img/app/C14d-puentes-jimmy-seleccionad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1464" y="1188720"/>
            <a:ext cx="3364992" cy="21031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0" name="Texto 26.8"/>
          <p:cNvSpPr txBox="1"/>
          <p:nvPr/>
        </p:nvSpPr>
        <p:spPr>
          <a:xfrm>
            <a:off x="5943600" y="336499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C14 · Jimmy en Puentes: conexiones resaltadas hacia otros bloques</a:t>
            </a:r>
            <a:endParaRPr lang="en-US" sz="1100" dirty="0"/>
          </a:p>
        </p:txBody>
      </p:sp>
      <p:pic>
        <p:nvPicPr>
          <p:cNvPr id="11" name="Captura 26.9" descr="/private/tmp/claude-501/-Users-renzoa--claude-spares-spare-QEcO9z/5d657745-61ee-4cc0-b06a-89114ff83a54/scratchpad/deck/img/app/C14e-puentes-monica-seleccionad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1464" y="3794760"/>
            <a:ext cx="3364992" cy="21031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2" name="Texto 26.10"/>
          <p:cNvSpPr txBox="1"/>
          <p:nvPr/>
        </p:nvSpPr>
        <p:spPr>
          <a:xfrm>
            <a:off x="5943600" y="597103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C14 · Monica en Puentes: vecinos de cuatro departamentos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Hallazgo 3 · Integración y desconexión institucional</a:t>
            </a:r>
            <a:endParaRPr lang="en-US" sz="3000" dirty="0"/>
          </a:p>
        </p:txBody>
      </p:sp>
      <p:pic>
        <p:nvPicPr>
          <p:cNvPr id="3" name="Captura 27.1" descr="/private/tmp/claude-501/-Users-renzoa--claude-spares-spare-QEcO9z/5d657745-61ee-4cc0-b06a-89114ff83a54/scratchpad/deck/img/app/C21-bioingenieri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188720"/>
            <a:ext cx="3657600" cy="2286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4" name="Texto 27.2"/>
          <p:cNvSpPr txBox="1"/>
          <p:nvPr/>
        </p:nvSpPr>
        <p:spPr>
          <a:xfrm>
            <a:off x="548640" y="354787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C21 · Bioingeniería e Ing. Química: 13 miembros, 11 aristas internas, 14 hacia fuera (13 a departamentos conocidos, 1 a un perfil sin departamento)</a:t>
            </a:r>
            <a:endParaRPr lang="en-US" sz="1100" dirty="0"/>
          </a:p>
        </p:txBody>
      </p:sp>
      <p:pic>
        <p:nvPicPr>
          <p:cNvPr id="5" name="Captura 27.3" descr="/private/tmp/claude-501/-Users-renzoa--claude-spares-spare-QEcO9z/5d657745-61ee-4cc0-b06a-89114ff83a54/scratchpad/deck/img/app/C21-humanidad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188720"/>
            <a:ext cx="3657600" cy="2286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6" name="Texto 27.4"/>
          <p:cNvSpPr txBox="1"/>
          <p:nvPr/>
        </p:nvSpPr>
        <p:spPr>
          <a:xfrm>
            <a:off x="6172200" y="354787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C21 · Humanidades, Artes y Ciencias Sociales: 8 miembros, 1 arista interna (De La Flor–Marcone), 0 salidas</a:t>
            </a:r>
            <a:endParaRPr lang="en-US" sz="1100" dirty="0"/>
          </a:p>
        </p:txBody>
      </p:sp>
      <p:pic>
        <p:nvPicPr>
          <p:cNvPr id="7" name="Captura 27.5" descr="/private/tmp/claude-501/-Users-renzoa--claude-spares-spare-QEcO9z/5d657745-61ee-4cc0-b06a-89114ff83a54/scratchpad/deck/img/app/C21-fisica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069080"/>
            <a:ext cx="2651760" cy="16573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8" name="Texto 27.6"/>
          <p:cNvSpPr txBox="1"/>
          <p:nvPr/>
        </p:nvSpPr>
        <p:spPr>
          <a:xfrm>
            <a:off x="548640" y="597103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C21 · Física: 2 miembros, 0 aristas</a:t>
            </a:r>
            <a:endParaRPr lang="en-US" sz="1100" dirty="0"/>
          </a:p>
        </p:txBody>
      </p:sp>
      <p:pic>
        <p:nvPicPr>
          <p:cNvPr id="9" name="Captura 27.7" descr="/private/tmp/claude-501/-Users-renzoa--claude-spares-spare-QEcO9z/5d657745-61ee-4cc0-b06a-89114ff83a54/scratchpad/deck/img/app/C21-negocios-digitale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4069080"/>
            <a:ext cx="2651760" cy="16573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0" name="Texto 27.8"/>
          <p:cNvSpPr txBox="1"/>
          <p:nvPr/>
        </p:nvSpPr>
        <p:spPr>
          <a:xfrm>
            <a:off x="3383280" y="597103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C21 · Negocios Digitales: 2 miembros, 0 aristas</a:t>
            </a:r>
            <a:endParaRPr lang="en-US" sz="1100" dirty="0"/>
          </a:p>
        </p:txBody>
      </p:sp>
      <p:sp>
        <p:nvSpPr>
          <p:cNvPr id="11" name="Lista 27.9"/>
          <p:cNvSpPr txBox="1"/>
          <p:nvPr/>
        </p:nvSpPr>
        <p:spPr>
          <a:xfrm>
            <a:off x="6172200" y="4069080"/>
            <a:ext cx="5486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Tarea T3: seleccionar el departamento desde la leyenda, con sugerencias OFF, y leer las conexiones registradas internas y externas.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Ausencia de vínculo bajo nuestra extracción no es ausencia universal de colaboración.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“Sin departamento” es información desconocida, no una institución.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El treemap no cuantifica por sí solo la intensidad institucional: las cifras salen de las aristas.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Hallazgo 4 · Afinidad aunque no haya vínculo registrado</a:t>
            </a:r>
            <a:endParaRPr lang="en-US" sz="3000" dirty="0"/>
          </a:p>
        </p:txBody>
      </p:sp>
      <p:sp>
        <p:nvSpPr>
          <p:cNvPr id="3" name="Tarjeta 28.1"/>
          <p:cNvSpPr/>
          <p:nvPr/>
        </p:nvSpPr>
        <p:spPr>
          <a:xfrm>
            <a:off x="548640" y="1188720"/>
            <a:ext cx="51206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Cifra 28.2"/>
          <p:cNvSpPr txBox="1"/>
          <p:nvPr/>
        </p:nvSpPr>
        <p:spPr>
          <a:xfrm>
            <a:off x="777240" y="1280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56,6</a:t>
            </a:r>
            <a:endParaRPr lang="en-US" sz="4000" dirty="0"/>
          </a:p>
        </p:txBody>
      </p:sp>
      <p:sp>
        <p:nvSpPr>
          <p:cNvPr id="5" name="Etiqueta 28.3"/>
          <p:cNvSpPr txBox="1"/>
          <p:nvPr/>
        </p:nvSpPr>
        <p:spPr>
          <a:xfrm>
            <a:off x="777240" y="2103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 de Luz Adanaque – Luciano Romero (sobre 100)</a:t>
            </a:r>
            <a:endParaRPr lang="en-US" sz="1200" dirty="0"/>
          </a:p>
        </p:txBody>
      </p:sp>
      <p:sp>
        <p:nvSpPr>
          <p:cNvPr id="6" name="Texto 28.4"/>
          <p:cNvSpPr txBox="1"/>
          <p:nvPr/>
        </p:nvSpPr>
        <p:spPr>
          <a:xfrm>
            <a:off x="3200400" y="1325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84,04 · I = 20,60 · R = 0
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Puesto 100 de 5.283 candidatas: no entra en Top 1 % (53), sí en Top 2 % (106).</a:t>
            </a:r>
            <a:endParaRPr lang="en-US" sz="1000" dirty="0"/>
          </a:p>
        </p:txBody>
      </p:sp>
      <p:sp>
        <p:nvSpPr>
          <p:cNvPr id="7" name="Lista 28.5"/>
          <p:cNvSpPr txBox="1"/>
          <p:nvPr/>
        </p:nvSpPr>
        <p:spPr>
          <a:xfrm>
            <a:off x="548640" y="3474720"/>
            <a:ext cx="5120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Luz tiene grado observado 0 y publica intereses y huellas: un aislado puede tener afinidad alta.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Términos relacionados por el modelo: “color feature” ↔ “Color Image” (0,89); “image feature” ↔ “Procesamiento de imágenes” (0,71).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Tarea T4: activar Sugerencias, subir a Top 2 %, seleccionar la línea violeta y leer las señales.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accent5"/>
                </a:solidFill>
              </a:rPr>
              <a:t>Es una candidata a explorar, no una colaboración que exista. No concluir que Luz trabaja sola.</a:t>
            </a:r>
            <a:endParaRPr lang="en-US" sz="1200" dirty="0"/>
          </a:p>
        </p:txBody>
      </p:sp>
      <p:pic>
        <p:nvPicPr>
          <p:cNvPr id="8" name="Captura 28.6" descr="/private/tmp/claude-501/-Users-renzoa--claude-spares-spare-QEcO9z/5d657745-61ee-4cc0-b06a-89114ff83a54/scratchpad/deck/img/app/C22a-luz-top2-perf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1464" y="1188720"/>
            <a:ext cx="3364992" cy="21031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9" name="Texto 28.7"/>
          <p:cNvSpPr txBox="1"/>
          <p:nvPr/>
        </p:nvSpPr>
        <p:spPr>
          <a:xfrm>
            <a:off x="5943600" y="336499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C22 · Luz seleccionada con Top 2 %: 0 colaboradores en la cohorte, 5 publicaciones</a:t>
            </a:r>
            <a:endParaRPr lang="en-US" sz="1100" dirty="0"/>
          </a:p>
        </p:txBody>
      </p:sp>
      <p:pic>
        <p:nvPicPr>
          <p:cNvPr id="10" name="Captura 28.8" descr="/private/tmp/claude-501/-Users-renzoa--claude-spares-spare-QEcO9z/5d657745-61ee-4cc0-b06a-89114ff83a54/scratchpad/deck/img/app/C22c-luz-luciano-top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1464" y="3794760"/>
            <a:ext cx="3364992" cy="21031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1" name="Texto 28.9"/>
          <p:cNvSpPr txBox="1"/>
          <p:nvPr/>
        </p:nvSpPr>
        <p:spPr>
          <a:xfrm>
            <a:off x="5943600" y="597103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C22 · Pareja sugerida Luz–Luciano: línea violeta discontinua y detalle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Sensibilidad y decisiones propias</a:t>
            </a:r>
            <a:endParaRPr lang="en-US" sz="3000" dirty="0"/>
          </a:p>
        </p:txBody>
      </p:sp>
      <p:pic>
        <p:nvPicPr>
          <p:cNvPr id="3" name="Captura 29.1" descr="/private/tmp/claude-501/-Users-renzoa--claude-spares-spare-QEcO9z/5d657745-61ee-4cc0-b06a-89114ff83a54/scratchpad/deck/img/app/C22d-luz-luciano-detal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239" y="1188720"/>
            <a:ext cx="2087401" cy="34747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4" name="Texto 29.2"/>
          <p:cNvSpPr txBox="1"/>
          <p:nvPr/>
        </p:nvSpPr>
        <p:spPr>
          <a:xfrm>
            <a:off x="548640" y="473659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60/30/10 → S = 56,6</a:t>
            </a:r>
            <a:endParaRPr lang="en-US" sz="1100" dirty="0"/>
          </a:p>
        </p:txBody>
      </p:sp>
      <p:pic>
        <p:nvPicPr>
          <p:cNvPr id="5" name="Captura 29.3" descr="/private/tmp/claude-501/-Users-renzoa--claude-spares-spare-QEcO9z/5d657745-61ee-4cc0-b06a-89114ff83a54/scratchpad/deck/img/app/C23a-luz-luciano-tematica10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3999" y="1188720"/>
            <a:ext cx="2087401" cy="34747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6" name="Texto 29.4"/>
          <p:cNvSpPr txBox="1"/>
          <p:nvPr/>
        </p:nvSpPr>
        <p:spPr>
          <a:xfrm>
            <a:off x="3200400" y="473659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Temática 100 % → S = 84,0</a:t>
            </a:r>
            <a:endParaRPr lang="en-US" sz="1100" dirty="0"/>
          </a:p>
        </p:txBody>
      </p:sp>
      <p:pic>
        <p:nvPicPr>
          <p:cNvPr id="7" name="Captura 29.5" descr="/private/tmp/claude-501/-Users-renzoa--claude-spares-spare-QEcO9z/5d657745-61ee-4cc0-b06a-89114ff83a54/scratchpad/deck/img/app/C23b-luz-luciano-institucion100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5759" y="1188720"/>
            <a:ext cx="2087401" cy="34747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8" name="Texto 29.6"/>
          <p:cNvSpPr txBox="1"/>
          <p:nvPr/>
        </p:nvSpPr>
        <p:spPr>
          <a:xfrm>
            <a:off x="5852160" y="473659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Institución 100 % → S = 20,6</a:t>
            </a:r>
            <a:endParaRPr lang="en-US" sz="1100" dirty="0"/>
          </a:p>
        </p:txBody>
      </p:sp>
      <p:graphicFrame>
        <p:nvGraphicFramePr>
          <p:cNvPr id="30" name="Tabla 29.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595360" y="1188720"/>
          <a:ext cx="3108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Calculado con datos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Elegido por nosotros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Aristas, pesos, k, W, B, componentes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Nivel institucional más específico y normalización respecto a grupo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Comunidades, articulaciones, RWR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Pesos 60/30/10; hasta 20 conceptos; términos excluidos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Similitudes del modelo multilingüe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Reinicio RWR 10 %; radio, grosor, colores, fuerzas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Proporciones de I (descriptivas)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Top máximo 5 %; umbral de fotos 25 px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</a:tbl>
          </a:graphicData>
        </a:graphic>
      </p:graphicFrame>
      <p:sp>
        <p:nvSpPr>
          <p:cNvPr id="10" name="Lista 29.8"/>
          <p:cNvSpPr txBox="1"/>
          <p:nvPr/>
        </p:nvSpPr>
        <p:spPr>
          <a:xfrm>
            <a:off x="548640" y="53035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Mismas identidades, mismas señales T/I/R: el criterio elegido cambia la prioridad, no la evidencia registrada.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Recalibración de I: con pesos iniciales, 40 de 53 parejas se conservan en Top 1 % y 220 de 265 en Top 5 % frente al antiguo 100–70–40. Es sensibilidad, no mejora predictiva comprobada.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 Institución al 100 %, compartir grupo produce S = 100 por construcción (por ejemplo Flores Luyo – Gutierrez Alva, DADS).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Exactitud y entrega reproducible</a:t>
            </a:r>
            <a:endParaRPr lang="en-US" sz="3000" dirty="0"/>
          </a:p>
        </p:txBody>
      </p:sp>
      <p:sp>
        <p:nvSpPr>
          <p:cNvPr id="3" name="Paso 30.1"/>
          <p:cNvSpPr/>
          <p:nvPr/>
        </p:nvSpPr>
        <p:spPr>
          <a:xfrm>
            <a:off x="548640" y="1188720"/>
            <a:ext cx="2697480" cy="822960"/>
          </a:xfrm>
          <a:prstGeom prst="chevron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4" name="Texto 30.2"/>
          <p:cNvSpPr txBox="1"/>
          <p:nvPr/>
        </p:nvSpPr>
        <p:spPr>
          <a:xfrm>
            <a:off x="1097280" y="11887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CRIS UTEC (fuente)</a:t>
            </a:r>
            <a:endParaRPr lang="en-US" sz="1100" dirty="0"/>
          </a:p>
        </p:txBody>
      </p:sp>
      <p:sp>
        <p:nvSpPr>
          <p:cNvPr id="5" name="Paso 30.3"/>
          <p:cNvSpPr/>
          <p:nvPr/>
        </p:nvSpPr>
        <p:spPr>
          <a:xfrm>
            <a:off x="3337560" y="1188720"/>
            <a:ext cx="2697480" cy="822960"/>
          </a:xfrm>
          <a:prstGeom prst="chevron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" name="Texto 30.4"/>
          <p:cNvSpPr txBox="1"/>
          <p:nvPr/>
        </p:nvSpPr>
        <p:spPr>
          <a:xfrm>
            <a:off x="3886200" y="11887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Cinco JSON en data/</a:t>
            </a:r>
            <a:endParaRPr lang="en-US" sz="1100" dirty="0"/>
          </a:p>
        </p:txBody>
      </p:sp>
      <p:sp>
        <p:nvSpPr>
          <p:cNvPr id="7" name="Paso 30.5"/>
          <p:cNvSpPr/>
          <p:nvPr/>
        </p:nvSpPr>
        <p:spPr>
          <a:xfrm>
            <a:off x="6126480" y="1188720"/>
            <a:ext cx="2697480" cy="822960"/>
          </a:xfrm>
          <a:prstGeom prst="chevron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8" name="Texto 30.6"/>
          <p:cNvSpPr txBox="1"/>
          <p:nvPr/>
        </p:nvSpPr>
        <p:spPr>
          <a:xfrm>
            <a:off x="6675120" y="11887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Flask (sirve datos y API)</a:t>
            </a:r>
            <a:endParaRPr lang="en-US" sz="1100" dirty="0"/>
          </a:p>
        </p:txBody>
      </p:sp>
      <p:sp>
        <p:nvSpPr>
          <p:cNvPr id="9" name="Paso 30.7"/>
          <p:cNvSpPr/>
          <p:nvPr/>
        </p:nvSpPr>
        <p:spPr>
          <a:xfrm>
            <a:off x="8915400" y="1188720"/>
            <a:ext cx="2697480" cy="822960"/>
          </a:xfrm>
          <a:prstGeom prst="chevron">
            <a:avLst/>
          </a:prstGeom>
          <a:solidFill>
            <a:schemeClr val="accent2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0" name="Texto 30.8"/>
          <p:cNvSpPr txBox="1"/>
          <p:nvPr/>
        </p:nvSpPr>
        <p:spPr>
          <a:xfrm>
            <a:off x="9464040" y="11887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D3 (visualización e interacción)</a:t>
            </a:r>
            <a:endParaRPr lang="en-US" sz="1100" dirty="0"/>
          </a:p>
        </p:txBody>
      </p:sp>
      <p:sp>
        <p:nvSpPr>
          <p:cNvPr id="11" name="Lista 30.9"/>
          <p:cNvSpPr txBox="1"/>
          <p:nvPr/>
        </p:nvSpPr>
        <p:spPr>
          <a:xfrm>
            <a:off x="548640" y="2286000"/>
            <a:ext cx="5852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Solo D3 para la visualización; NetworkX (Python) calcula las métricas en la preparación y no forma parte de D3.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Métricas contrastadas con NetworkX; B simulada del Web Worker comparada contra NetworkX en las pruebas de navegador.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Datos, fotos y D3 locales: sin scraping, claves ni descarga de modelo durante la exposición.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Pruebas: pytest (datos, métricas, API), node (scoring, betweenness, treemap) y smoke en navegador (Playwright).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Entrega: ZIP del proyecto sin .venv ni cachés; revisado tras descomprimir con requirements.txt.</a:t>
            </a:r>
            <a:endParaRPr lang="en-US" sz="1200" dirty="0"/>
          </a:p>
        </p:txBody>
      </p:sp>
      <p:pic>
        <p:nvPicPr>
          <p:cNvPr id="12" name="Captura 30.10" descr="/private/tmp/claude-501/-Users-renzoa--claude-spares-spare-QEcO9z/5d657745-61ee-4cc0-b06a-89114ff83a54/scratchpad/deck/img/app/C25-dialogo-como-interpret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2286000"/>
            <a:ext cx="5029200" cy="31432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3" name="Texto 30.11"/>
          <p:cNvSpPr txBox="1"/>
          <p:nvPr/>
        </p:nvSpPr>
        <p:spPr>
          <a:xfrm>
            <a:off x="6675120" y="592531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La app explica su propio método en “Cómo interpretar” (botón ?)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Alcances y límites</a:t>
            </a:r>
            <a:endParaRPr lang="en-US" sz="3000" dirty="0"/>
          </a:p>
        </p:txBody>
      </p:sp>
      <p:sp>
        <p:nvSpPr>
          <p:cNvPr id="3" name="Tarjeta 31.1"/>
          <p:cNvSpPr/>
          <p:nvPr/>
        </p:nvSpPr>
        <p:spPr>
          <a:xfrm>
            <a:off x="548640" y="1188720"/>
            <a:ext cx="544068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o 31.2"/>
          <p:cNvSpPr txBox="1"/>
          <p:nvPr/>
        </p:nvSpPr>
        <p:spPr>
          <a:xfrm>
            <a:off x="731520" y="13258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Cohorte</a:t>
            </a:r>
            <a:endParaRPr lang="en-US" sz="1400" dirty="0"/>
          </a:p>
        </p:txBody>
      </p:sp>
      <p:sp>
        <p:nvSpPr>
          <p:cNvPr id="5" name="Texto 31.3"/>
          <p:cNvSpPr txBox="1"/>
          <p:nvPr/>
        </p:nvSpPr>
        <p:spPr>
          <a:xfrm>
            <a:off x="731520" y="17373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104 perfiles de CRIS; no toda persona que investiga en UTEC ni su colaboración mundial.</a:t>
            </a:r>
            <a:endParaRPr lang="en-US" sz="1200" dirty="0"/>
          </a:p>
        </p:txBody>
      </p:sp>
      <p:sp>
        <p:nvSpPr>
          <p:cNvPr id="6" name="Tarjeta 31.4"/>
          <p:cNvSpPr/>
          <p:nvPr/>
        </p:nvSpPr>
        <p:spPr>
          <a:xfrm>
            <a:off x="6172200" y="1188720"/>
            <a:ext cx="544068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o 31.5"/>
          <p:cNvSpPr txBox="1"/>
          <p:nvPr/>
        </p:nvSpPr>
        <p:spPr>
          <a:xfrm>
            <a:off x="6355080" y="13258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Información faltante</a:t>
            </a:r>
            <a:endParaRPr lang="en-US" sz="1400" dirty="0"/>
          </a:p>
        </p:txBody>
      </p:sp>
      <p:sp>
        <p:nvSpPr>
          <p:cNvPr id="8" name="Texto 31.6"/>
          <p:cNvSpPr txBox="1"/>
          <p:nvPr/>
        </p:nvSpPr>
        <p:spPr>
          <a:xfrm>
            <a:off x="6355080" y="17373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9 sin departamento, 14 sin intereses, 24 sin huella; null ≠ 0.</a:t>
            </a:r>
            <a:endParaRPr lang="en-US" sz="1200" dirty="0"/>
          </a:p>
        </p:txBody>
      </p:sp>
      <p:sp>
        <p:nvSpPr>
          <p:cNvPr id="9" name="Tarjeta 31.7"/>
          <p:cNvSpPr/>
          <p:nvPr/>
        </p:nvSpPr>
        <p:spPr>
          <a:xfrm>
            <a:off x="548640" y="2880360"/>
            <a:ext cx="544068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o 31.8"/>
          <p:cNvSpPr txBox="1"/>
          <p:nvPr/>
        </p:nvSpPr>
        <p:spPr>
          <a:xfrm>
            <a:off x="731520" y="3017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Reglas de coautoría</a:t>
            </a:r>
            <a:endParaRPr lang="en-US" sz="1400" dirty="0"/>
          </a:p>
        </p:txBody>
      </p:sp>
      <p:sp>
        <p:nvSpPr>
          <p:cNvPr id="11" name="Texto 31.9"/>
          <p:cNvSpPr txBox="1"/>
          <p:nvPr/>
        </p:nvSpPr>
        <p:spPr>
          <a:xfrm>
            <a:off x="731520" y="34290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Solo autores individuales identificados y proyectos; no encontrar arista = falta de evidencia, no prueba de no colaboración.</a:t>
            </a:r>
            <a:endParaRPr lang="en-US" sz="1200" dirty="0"/>
          </a:p>
        </p:txBody>
      </p:sp>
      <p:sp>
        <p:nvSpPr>
          <p:cNvPr id="12" name="Tarjeta 31.10"/>
          <p:cNvSpPr/>
          <p:nvPr/>
        </p:nvSpPr>
        <p:spPr>
          <a:xfrm>
            <a:off x="6172200" y="2880360"/>
            <a:ext cx="544068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o 31.11"/>
          <p:cNvSpPr txBox="1"/>
          <p:nvPr/>
        </p:nvSpPr>
        <p:spPr>
          <a:xfrm>
            <a:off x="6355080" y="3017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Similitud</a:t>
            </a:r>
            <a:endParaRPr lang="en-US" sz="1400" dirty="0"/>
          </a:p>
        </p:txBody>
      </p:sp>
      <p:sp>
        <p:nvSpPr>
          <p:cNvPr id="14" name="Texto 31.12"/>
          <p:cNvSpPr txBox="1"/>
          <p:nvPr/>
        </p:nvSpPr>
        <p:spPr>
          <a:xfrm>
            <a:off x="6355080" y="34290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Semántica según un modelo; no complementariedad científica.</a:t>
            </a:r>
            <a:endParaRPr lang="en-US" sz="1200" dirty="0"/>
          </a:p>
        </p:txBody>
      </p:sp>
      <p:sp>
        <p:nvSpPr>
          <p:cNvPr id="15" name="Tarjeta 31.13"/>
          <p:cNvSpPr/>
          <p:nvPr/>
        </p:nvSpPr>
        <p:spPr>
          <a:xfrm>
            <a:off x="548640" y="4572000"/>
            <a:ext cx="544068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o 31.14"/>
          <p:cNvSpPr txBox="1"/>
          <p:nvPr/>
        </p:nvSpPr>
        <p:spPr>
          <a:xfrm>
            <a:off x="731520" y="4709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Escenarios</a:t>
            </a:r>
            <a:endParaRPr lang="en-US" sz="1400" dirty="0"/>
          </a:p>
        </p:txBody>
      </p:sp>
      <p:sp>
        <p:nvSpPr>
          <p:cNvPr id="17" name="Texto 31.15"/>
          <p:cNvSpPr txBox="1"/>
          <p:nvPr/>
        </p:nvSpPr>
        <p:spPr>
          <a:xfrm>
            <a:off x="731520" y="512064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 y B simulada son exploratorios; no hay validación con colaboraciones futuras ni umbral de éxito.</a:t>
            </a:r>
            <a:endParaRPr lang="en-US" sz="1200" dirty="0"/>
          </a:p>
        </p:txBody>
      </p:sp>
      <p:sp>
        <p:nvSpPr>
          <p:cNvPr id="18" name="Tarjeta 31.16"/>
          <p:cNvSpPr/>
          <p:nvPr/>
        </p:nvSpPr>
        <p:spPr>
          <a:xfrm>
            <a:off x="6172200" y="4572000"/>
            <a:ext cx="544068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o 31.17"/>
          <p:cNvSpPr txBox="1"/>
          <p:nvPr/>
        </p:nvSpPr>
        <p:spPr>
          <a:xfrm>
            <a:off x="6355080" y="4709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Lectura visual</a:t>
            </a:r>
            <a:endParaRPr lang="en-US" sz="1400" dirty="0"/>
          </a:p>
        </p:txBody>
      </p:sp>
      <p:sp>
        <p:nvSpPr>
          <p:cNvPr id="20" name="Texto 31.18"/>
          <p:cNvSpPr txBox="1"/>
          <p:nvPr/>
        </p:nvSpPr>
        <p:spPr>
          <a:xfrm>
            <a:off x="6355080" y="512064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El tamaño no permite ordenar 104 valores con exactitud; el treemap no sustituye una comparación cuantitativa agregada.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Aportes y demostración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88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Cuatro hallazgos, una red explicable</a:t>
            </a:r>
            <a:endParaRPr lang="en-US" sz="1800" dirty="0"/>
          </a:p>
        </p:txBody>
      </p:sp>
      <p:sp>
        <p:nvSpPr>
          <p:cNvPr id="4" name="Lista 32.1"/>
          <p:cNvSpPr txBox="1"/>
          <p:nvPr/>
        </p:nvSpPr>
        <p:spPr>
          <a:xfrm>
            <a:off x="548640" y="1920240"/>
            <a:ext cx="6583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Jimmy: 9 colaboradores y mayor intermediación; Carmen: más trabajos por pareja (20).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Jimmy y Monica ocupan posiciones de paso entre departamentos; se comprueba en sus vecinos.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Bioingeniería está integrada; Humanidades, Física y Negocios Digitales no tienen salidas registradas.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Luz–Luciano: afinidad temática alta sin vínculo (S = 56,6, Top 2 %); añadir rutas redistribuye B.</a:t>
            </a:r>
            <a:endParaRPr lang="en-US" sz="1400" dirty="0"/>
          </a:p>
        </p:txBody>
      </p:sp>
      <p:sp>
        <p:nvSpPr>
          <p:cNvPr id="5" name="Tarjeta 32.2"/>
          <p:cNvSpPr/>
          <p:nvPr/>
        </p:nvSpPr>
        <p:spPr>
          <a:xfrm>
            <a:off x="7498080" y="1920240"/>
            <a:ext cx="4114800" cy="3291840"/>
          </a:xfrm>
          <a:prstGeom prst="roundRect">
            <a:avLst>
              <a:gd name="adj" fmla="val 3333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6" name="Texto 32.3"/>
          <p:cNvSpPr txBox="1"/>
          <p:nvPr/>
        </p:nvSpPr>
        <p:spPr>
          <a:xfrm>
            <a:off x="7680960" y="205740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Demo en vivo (localhost:5050)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1. Panorama y leyenda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2. Buscar a Jimmy → detalle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3. Puentes → vecinos de Jimmy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4. Humanidades y Bioingeniería desde la leyenda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5. Sugerencias, Top 2 % → Luz–Luciano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6. Puentes con Top 5 % → B simulada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7. Restablecer</a:t>
            </a:r>
            <a:endParaRPr lang="en-US" sz="1300" dirty="0"/>
          </a:p>
        </p:txBody>
      </p:sp>
      <p:sp>
        <p:nvSpPr>
          <p:cNvPr id="7" name="Texto 32.4"/>
          <p:cNvSpPr txBox="1"/>
          <p:nvPr/>
        </p:nvSpPr>
        <p:spPr>
          <a:xfrm>
            <a:off x="548640" y="56692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Referencias principales: CRIS UTEC · CollaborationViz (PLOS ONE 2014) · Harvard Catalyst Profiles · Group-in-a-Box (Chaturvedi et al. 2014) · Force in a Box (Guerra Gómez) · Brehmer y Munzner (2013) · Sentence-BERT y MiniLM multilingüe · NetworkX PageRank · DRACoR (Pradhan y Pal 2020) · D3. Bibliografía completa en el anexo A12.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A1 · Rúbrica y mapa de cobertura</a:t>
            </a:r>
            <a:endParaRPr lang="en-US" sz="2800" dirty="0"/>
          </a:p>
        </p:txBody>
      </p:sp>
      <p:pic>
        <p:nvPicPr>
          <p:cNvPr id="3" name="Captura 33.1" descr="/private/tmp/claude-501/-Users-renzoa--claude-spares-spare-QEcO9z/5d657745-61ee-4cc0-b06a-89114ff83a54/scratchpad/deck/img/08-rubric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8114" y="1188720"/>
            <a:ext cx="2558651" cy="46634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4" name="Texto 33.2"/>
          <p:cNvSpPr txBox="1"/>
          <p:nvPr/>
        </p:nvSpPr>
        <p:spPr>
          <a:xfrm>
            <a:off x="548640" y="592531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E08 · Rúbrica proporcionada por el curso (20 puntos)</a:t>
            </a:r>
            <a:endParaRPr lang="en-US" sz="1100" dirty="0"/>
          </a:p>
        </p:txBody>
      </p:sp>
      <p:graphicFrame>
        <p:nvGraphicFramePr>
          <p:cNvPr id="34" name="Tabla 33.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188720"/>
          <a:ext cx="72237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57200"/>
                <a:gridCol w="128016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Criterio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Pts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Láminas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Evidencia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Claridad de la visualización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15–18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Leyendas de color, tamaño y líneas; datos ausentes claros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Insight analítico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25–28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Jimmy/Carmen, Jimmy/Monica, departamentos con datos reales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≥ 4 tareas analíticas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3, 25–28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Cuatro tareas con datos, operaciones y resultado observable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Razonamiento de diseño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13–18, 23, 29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Antes/después, canales, límites, animación con propósito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Métricas de red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9, 11, 12, 19–24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Fórmulas, variables, constantes, ejemplos y alcance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Interacción y animación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18, demo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Overview → zoom/filter → details; hover, click, Enter, drag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Flask + D3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30, demo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App funcional con datos locales, sin otra librería de visualización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Presentación en clase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Relato y demo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Objetivos, tareas, hallazgos y decisiones en el tiempo asignado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A2 · Diccionario de campos y cobertura</a:t>
            </a:r>
            <a:endParaRPr lang="en-US" sz="2800" dirty="0"/>
          </a:p>
        </p:txBody>
      </p:sp>
      <p:graphicFrame>
        <p:nvGraphicFramePr>
          <p:cNvPr id="35" name="Tabla 34.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8580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Campo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Significado y papel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Cobertura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id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SHA-256 de la URL canónica del perfil; estable, sin orden ni importancia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104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department / departments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Primer departamento listado (color, bloque); lista completa conservada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95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affiliations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Pertenencias con nombre, URL, tipo, rol y organisation_id; alimentan I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102 relevantes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research_areas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Intereses declarados; fuente temática 1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90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fingerprint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Conceptos de huella con concept_id, label, weight, subject; fuente temática 2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80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biography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Respaldo temático solo si faltan ambas fuentes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5 usados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citations, h_index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Publicados con proveedor y fecha; no alimentan aristas, tamaño, T, I ni R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variable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publication_count, project_count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Registros distintos vinculados al perfil; no es número de colaboradores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104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network_metrics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degree, weighted_degree, degree_centrality, betweenness, component, community, is_articulation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104 (calculado)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edges[].evidence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Registros con DOI/URL, tipo, año y fuentes que respaldan cada arista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73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A3 · Deduplicación, autoría colectiva y externos</a:t>
            </a:r>
            <a:endParaRPr lang="en-US" sz="2800" dirty="0"/>
          </a:p>
        </p:txBody>
      </p:sp>
      <p:sp>
        <p:nvSpPr>
          <p:cNvPr id="3" name="Lista 35.1"/>
          <p:cNvSpPr txBox="1"/>
          <p:nvPr/>
        </p:nvSpPr>
        <p:spPr>
          <a:xfrm>
            <a:off x="548640" y="1188720"/>
            <a:ext cx="603504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Clave de deduplicación: (tipo, DOI) si hay DOI; si no, (tipo, URL normalizada). Proyectos por URL.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Campos unidos al deduplicar: personas, personas enlazadas, observaciones, metadatos de autores, conceptos, colaboraciones de autor y métricas.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author_faculty_ids excluye roles de editor, traductor y compilador; author_list_scope indica colectivo, ficha detallada o listado.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Una pareja recibe arista de coautoría solo si ambos están en author_faculty_ids y el registro no tiene autor colectivo; los proyectos crean shared_project.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Asociaciones de perfil sin autores individuales confirmados se conservan en publicaciones, pero no crean arista (432 registros retirados del grafo).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Externos: faculty_id nulo; conservados como contexto; no crean nodos ni cambian k, B ni R.</a:t>
            </a:r>
            <a:endParaRPr lang="en-US" sz="1200" dirty="0"/>
          </a:p>
        </p:txBody>
      </p:sp>
      <p:pic>
        <p:nvPicPr>
          <p:cNvPr id="4" name="Captura 35.2" descr="/private/tmp/claude-501/-Users-renzoa--claude-spares-spare-QEcO9z/5d657745-61ee-4cc0-b06a-89114ff83a54/scratchpad/deck/img/cris/C08-cabece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188720"/>
            <a:ext cx="4846320" cy="144832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5" name="Texto 35.3"/>
          <p:cNvSpPr txBox="1"/>
          <p:nvPr/>
        </p:nvSpPr>
        <p:spPr>
          <a:xfrm>
            <a:off x="6858000" y="327355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C08 · Dos internos (Valdivia-Silva, Guio) y nueve autores sin identificación en la cohorte</a:t>
            </a:r>
            <a:endParaRPr lang="en-US" sz="1100" dirty="0"/>
          </a:p>
        </p:txBody>
      </p:sp>
      <p:pic>
        <p:nvPicPr>
          <p:cNvPr id="6" name="Captura 35.4" descr="/private/tmp/claude-501/-Users-renzoa--claude-spares-spare-QEcO9z/5d657745-61ee-4cc0-b06a-89114ff83a54/scratchpad/deck/img/cris/C18-cabecer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3794760"/>
            <a:ext cx="4846320" cy="144832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7" name="Texto 35.5"/>
          <p:cNvSpPr txBox="1"/>
          <p:nvPr/>
        </p:nvSpPr>
        <p:spPr>
          <a:xfrm>
            <a:off x="6858000" y="587959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C18 · “The LHCb collaboration”: autoría colectiva, sin arista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A4 · Grado, intermediación, componentes y puentes</a:t>
            </a:r>
            <a:endParaRPr lang="en-US" sz="2800" dirty="0"/>
          </a:p>
        </p:txBody>
      </p:sp>
      <p:sp>
        <p:nvSpPr>
          <p:cNvPr id="3" name="Tarjeta 36.1"/>
          <p:cNvSpPr/>
          <p:nvPr/>
        </p:nvSpPr>
        <p:spPr>
          <a:xfrm>
            <a:off x="548640" y="1188720"/>
            <a:ext cx="548640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Fórmula 36.2"/>
          <p:cNvSpPr txBox="1"/>
          <p:nvPr/>
        </p:nvSpPr>
        <p:spPr>
          <a:xfrm>
            <a:off x="731520" y="1298448"/>
            <a:ext cx="51206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k(v) = |vecinos de v|      W(v) = Σ_u w_vu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B(v) = [Σ σ_st(v)/σ_st] / [(N−1)(N−2)/2],  N = 104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densidad = E / [N(N−1)/2] = 73/5.356 = 0,01363</a:t>
            </a:r>
            <a:endParaRPr lang="en-US" sz="1200" dirty="0"/>
          </a:p>
        </p:txBody>
      </p:sp>
      <p:graphicFrame>
        <p:nvGraphicFramePr>
          <p:cNvPr id="37" name="Tabla 36.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7472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28600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Concepto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Definición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Valor actual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Componente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Conjunto unido por algún camino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62 (57 aislados)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Aislado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k = 0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57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Nodo de articulación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Al retirarlo aumentan los componentes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Arista puente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Al retirarla aumentan los componentes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Comunidades (modularidad)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Agrupación voraz ponderada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10 con &gt; 1 persona, 57 unitarias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Capa coautoría / proyectos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Aristas por tipo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35 / 51 (13 con ambas)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</a:tbl>
          </a:graphicData>
        </a:graphic>
      </p:graphicFrame>
      <p:sp>
        <p:nvSpPr>
          <p:cNvPr id="6" name="Tarjeta 36.4"/>
          <p:cNvSpPr/>
          <p:nvPr/>
        </p:nvSpPr>
        <p:spPr>
          <a:xfrm>
            <a:off x="6400800" y="1188720"/>
            <a:ext cx="5303520" cy="5120640"/>
          </a:xfrm>
          <a:prstGeom prst="roundRect">
            <a:avLst>
              <a:gd name="adj" fmla="val 214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o 36.5"/>
          <p:cNvSpPr txBox="1"/>
          <p:nvPr/>
        </p:nvSpPr>
        <p:spPr>
          <a:xfrm>
            <a:off x="6583680" y="1325880"/>
            <a:ext cx="49377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Caminos empatados: si entre s y t hay dos caminos mínimos y solo uno pasa por v, la pareja aporta 1/2 a v. Parejas desconectadas aportan 0. Los extremos no cuentan. Cada arista vale un paso (weight = None): la frecuencia de trabajos no se interpreta como distancia.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Diferencias: la arista puente y el nodo de articulación son propiedades de conectividad; B mide posición de paso aunque nada se desconecte. Jimmy es articulación y tiene la B máxima (0,0680); Carmen no es articulación y tiene B 0,0217.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Máximos locales: Carmen es la B más alta entre miembros de Bioingeniería; Claudia Antonini (0,0274) entre Industrial. No se recalcula B dentro del departamento.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A5 · IDF, embeddings y normalización temática</a:t>
            </a:r>
            <a:endParaRPr lang="en-US" sz="2800" dirty="0"/>
          </a:p>
        </p:txBody>
      </p:sp>
      <p:sp>
        <p:nvSpPr>
          <p:cNvPr id="3" name="Tarjeta 37.1"/>
          <p:cNvSpPr/>
          <p:nvPr/>
        </p:nvSpPr>
        <p:spPr>
          <a:xfrm>
            <a:off x="548640" y="1188720"/>
            <a:ext cx="5486400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Fórmula 37.2"/>
          <p:cNvSpPr txBox="1"/>
          <p:nvPr/>
        </p:nvSpPr>
        <p:spPr>
          <a:xfrm>
            <a:off x="731520" y="1298448"/>
            <a:ext cx="512064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IDF(c) = ln((N_h + 1)/(df(c) + 1)) + 1,   N_h = 80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q(c) = peso_CRIS(c) × IDF(c)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u_A = normalizar(promedio emb(intereses))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f_A = normalizar(Σ q(c)·emb(c) / Σ q(c))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v_A = normalizar(promedio de fuentes disponibles)</a:t>
            </a:r>
            <a:endParaRPr lang="en-US" sz="1100" dirty="0"/>
          </a:p>
        </p:txBody>
      </p:sp>
      <p:sp>
        <p:nvSpPr>
          <p:cNvPr id="5" name="Lista 37.3"/>
          <p:cNvSpPr txBox="1"/>
          <p:nvPr/>
        </p:nvSpPr>
        <p:spPr>
          <a:xfrm>
            <a:off x="6309360" y="1188720"/>
            <a:ext cx="539496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Ejemplo didáctico (N_h = 80): df = 1 → IDF ≈ 4,70; df = 40 → IDF ≈ 1,68. Con peso 0,5: q ≈ 2,35 frente a 0,84. Un término común discrimina menos.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Se excluyen pesos no positivos y los términos “Peru” y “Numerical Example”; etiquetas repetidas conservan la mayor q; hasta 20 conceptos por perfil.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Biografía: fragmentos de hasta (longitud máxima − 2) tokens con solapamiento de 16; solo cuando faltan intereses y huellas.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 = coseno limitado a 0–1 (los negativos pasan a 0). Se muestran hasta dos pares de términos relacionados con similitud ≥ 0,45 como explicación; no se suman a T.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Modelo: sentence-transformers/paraphrase-multilingual-MiniLM-L12-v2, revisión e8f8c211…; CPU, semilla fija.</a:t>
            </a:r>
            <a:endParaRPr lang="en-US" sz="1100" dirty="0"/>
          </a:p>
        </p:txBody>
      </p:sp>
      <p:sp>
        <p:nvSpPr>
          <p:cNvPr id="6" name="Texto 37.4"/>
          <p:cNvSpPr txBox="1"/>
          <p:nvPr/>
        </p:nvSpPr>
        <p:spPr>
          <a:xfrm>
            <a:off x="548640" y="374904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Control semántico guardado en analysis.json: equivalent_languages = 0,835962; different_topics = 0,146285. Es un ejemplo de coherencia multilingüe, no una validación exhaustiva.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A6 · Calibración institucional completa</a:t>
            </a:r>
            <a:endParaRPr lang="en-US" sz="2800" dirty="0"/>
          </a:p>
        </p:txBody>
      </p:sp>
      <p:graphicFrame>
        <p:nvGraphicFramePr>
          <p:cNvPr id="39" name="Tabla 38.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4008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22960"/>
                <a:gridCol w="1005840"/>
                <a:gridCol w="82296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Categoría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Parejas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Registradas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p_c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Grupo compartido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94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18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0,191489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1,000000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Centro/instituto sin grupo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85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0,070588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0,344794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Departamento sin coincidencia superior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378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17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0,044974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0,205979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Ninguna coincidencia (información suficiente)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4.594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32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0,006966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Información insuficiente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205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null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arjeta 38.2"/>
          <p:cNvSpPr/>
          <p:nvPr/>
        </p:nvSpPr>
        <p:spPr>
          <a:xfrm>
            <a:off x="548640" y="3383280"/>
            <a:ext cx="6400800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Fórmula 38.3"/>
          <p:cNvSpPr txBox="1"/>
          <p:nvPr/>
        </p:nvSpPr>
        <p:spPr>
          <a:xfrm>
            <a:off x="731520" y="3493008"/>
            <a:ext cx="6035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I(c) = clip((p_c − p_none) / (p_group − p_none), 0, 1)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departamento: (0,044974 − 0,006966)/(0,191489 − 0,006966) = 0,205979</a:t>
            </a:r>
            <a:endParaRPr lang="en-US" sz="1100" dirty="0"/>
          </a:p>
        </p:txBody>
      </p:sp>
      <p:sp>
        <p:nvSpPr>
          <p:cNvPr id="6" name="Lista 38.4"/>
          <p:cNvSpPr txBox="1"/>
          <p:nvPr/>
        </p:nvSpPr>
        <p:spPr>
          <a:xfrm>
            <a:off x="548640" y="470916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Categorías excluyentes: se toma la coincidencia más específica por organisation_id.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Parejas sin afiliaciones relevantes en alguno de los dos perfiles → I = null (no cero) y cobertura &lt; 100 %.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Se recalibra sobre la cohorte completa al regenerar; nunca sobre filtros. Si grupo no supera a la base, el comando se detiene.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Efecto del cambio frente a 100–70–40: Top 1 % conserva 40/53; Top 5 % conserva 220/265. T y R idénticos.</a:t>
            </a:r>
            <a:endParaRPr lang="en-US" sz="1100" dirty="0"/>
          </a:p>
        </p:txBody>
      </p:sp>
      <p:pic>
        <p:nvPicPr>
          <p:cNvPr id="7" name="Captura 38.5" descr="/private/tmp/claude-501/-Users-renzoa--claude-spares-spare-QEcO9z/5d657745-61ee-4cc0-b06a-89114ff83a54/scratchpad/deck/img/cris/C05-gutierrez-cabece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188720"/>
            <a:ext cx="4480560" cy="195702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8" name="Texto 38.6"/>
          <p:cNvSpPr txBox="1"/>
          <p:nvPr/>
        </p:nvSpPr>
        <p:spPr>
          <a:xfrm>
            <a:off x="7223760" y="592531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C05 · Julio Gutierrez Alva: DADS compartido con Luis Flores Luyo (I = 100)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A7 · RWR completo: transición, reinicio, simetría y normalización</a:t>
            </a:r>
            <a:endParaRPr lang="en-US" sz="2800" dirty="0"/>
          </a:p>
        </p:txBody>
      </p:sp>
      <p:sp>
        <p:nvSpPr>
          <p:cNvPr id="3" name="Tarjeta 39.1"/>
          <p:cNvSpPr/>
          <p:nvPr/>
        </p:nvSpPr>
        <p:spPr>
          <a:xfrm>
            <a:off x="548640" y="1188720"/>
            <a:ext cx="576072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Fórmula 39.2"/>
          <p:cNvSpPr txBox="1"/>
          <p:nvPr/>
        </p:nvSpPr>
        <p:spPr>
          <a:xfrm>
            <a:off x="731520" y="1298448"/>
            <a:ext cx="539496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M_ij = w_ij / Σ_k w_ik  (salidas inexistentes → origen)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P_A = 0,90 · Mᵀ · P_A + 0,10 · e_A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R_bruto(A,B) = (P_A(B) + P_B(A)) / 2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R(A,B) = min(1, R_bruto(A,B) / máx_{sin arista} R_bruto)</a:t>
            </a:r>
            <a:endParaRPr lang="en-US" sz="1200" dirty="0"/>
          </a:p>
        </p:txBody>
      </p:sp>
      <p:sp>
        <p:nvSpPr>
          <p:cNvPr id="5" name="Lista 39.3"/>
          <p:cNvSpPr txBox="1"/>
          <p:nvPr/>
        </p:nvSpPr>
        <p:spPr>
          <a:xfrm>
            <a:off x="6492240" y="1188720"/>
            <a:ext cx="521208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M: matriz de transición normalizada por pesos salientes; e_A: vector con 1 en A; P_A(B): masa estacionaria en B al reiniciar en A.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Pesos 2 y 6: condicionado a continuar 25 % y 75 %; del paso completo 22,5 % y 67,5 %, más 10 % de reinicio.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Componentes distintos → R = 0; aislado → R = 0 hacia todos. R = 0 es una señal disponible, participa con su peso.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El máximo se toma entre parejas sin arista de la red completa; si fuera 0, todas las R serían 0.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Parámetros: alpha 0,9; hasta 1.000 iteraciones; tolerancia 1e-12; inicio y dangling en el origen; pesos de arista.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Las sugerencias nunca se añaden al grafo de R: evita que una hipótesis refuerce su propia puntuación.</a:t>
            </a:r>
            <a:endParaRPr lang="en-US" sz="1100" dirty="0"/>
          </a:p>
        </p:txBody>
      </p:sp>
      <p:pic>
        <p:nvPicPr>
          <p:cNvPr id="6" name="Captura 39.4" descr="/private/tmp/claude-501/-Users-renzoa--claude-spares-spare-QEcO9z/5d657745-61ee-4cc0-b06a-89114ff83a54/scratchpad/deck/img/app/C17a-pareja-con-camin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3566160"/>
            <a:ext cx="3657600" cy="2286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7" name="Texto 39.5"/>
          <p:cNvSpPr txBox="1"/>
          <p:nvPr/>
        </p:nvSpPr>
        <p:spPr>
          <a:xfrm>
            <a:off x="548640" y="592531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Deyby–Ruth Canahuire: R = 23,6/100 (0 colaboradores comunes, pero conectados por caminos registrados)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A8 · Combinación, faltantes, cobertura y redistribución</a:t>
            </a:r>
            <a:endParaRPr lang="en-US" sz="2800" dirty="0"/>
          </a:p>
        </p:txBody>
      </p:sp>
      <p:sp>
        <p:nvSpPr>
          <p:cNvPr id="3" name="Tarjeta 40.1"/>
          <p:cNvSpPr/>
          <p:nvPr/>
        </p:nvSpPr>
        <p:spPr>
          <a:xfrm>
            <a:off x="548640" y="1188720"/>
            <a:ext cx="5486400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Fórmula 40.2"/>
          <p:cNvSpPr txBox="1"/>
          <p:nvPr/>
        </p:nvSpPr>
        <p:spPr>
          <a:xfrm>
            <a:off x="731520" y="1298448"/>
            <a:ext cx="51206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Σ_{j disponible} a_j·señal_j / Σ_{j disponible} a_j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cobertura = Σ_{j disponible} a_j / Σ_{todos} a_j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mostrado = 100 × S</a:t>
            </a:r>
            <a:endParaRPr lang="en-US" sz="1200" dirty="0"/>
          </a:p>
        </p:txBody>
      </p:sp>
      <p:graphicFrame>
        <p:nvGraphicFramePr>
          <p:cNvPr id="41" name="Tabla 40.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00400"/>
          <a:ext cx="54864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731520"/>
                <a:gridCol w="640080"/>
                <a:gridCol w="640080"/>
                <a:gridCol w="1097280"/>
                <a:gridCol w="548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Caso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Cobertura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Cerda – De La Puente (real)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0,470273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0,205979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0,343957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100 %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Didáctico, I = null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0,5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null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0,30/0,70 = 0,428571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70 %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Didáctico, I = 0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0,5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0,30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100 %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Deyby – Ruth (real)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0,853603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0,236311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0,835793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100 %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</a:tbl>
          </a:graphicData>
        </a:graphic>
      </p:graphicFrame>
      <p:sp>
        <p:nvSpPr>
          <p:cNvPr id="6" name="Lista 40.4"/>
          <p:cNvSpPr txBox="1"/>
          <p:nvPr/>
        </p:nvSpPr>
        <p:spPr>
          <a:xfrm>
            <a:off x="6309360" y="1188720"/>
            <a:ext cx="539496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Aportes: cada barra muestra a_j·señal_j renormalizado; los aportes suman S, no los valores crudos.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Redistribución de controles: al mover un peso a x %, los otros reparten 100 − x proporcionalmente a sus valores anteriores; si ambos eran 0, por igual, ajustando el redondeo. 60/30/10 → temática 80 % → 80/15/5.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Sin señales disponibles con peso positivo no hay puntuación.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Null y cero no son equivalentes: el caso didáctico lo muestra (0,4286 frente a 0,30).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A9 · Top %, límite visual y E &lt; 4N</a:t>
            </a:r>
            <a:endParaRPr lang="en-US" sz="2800" dirty="0"/>
          </a:p>
        </p:txBody>
      </p:sp>
      <p:sp>
        <p:nvSpPr>
          <p:cNvPr id="3" name="Tarjeta 41.1"/>
          <p:cNvSpPr/>
          <p:nvPr/>
        </p:nvSpPr>
        <p:spPr>
          <a:xfrm>
            <a:off x="548640" y="1188720"/>
            <a:ext cx="5486400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Fórmula 41.2"/>
          <p:cNvSpPr txBox="1"/>
          <p:nvPr/>
        </p:nvSpPr>
        <p:spPr>
          <a:xfrm>
            <a:off x="731520" y="1298448"/>
            <a:ext cx="51206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parejas_posibles = 104 × 103 / 2 = 5.356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candidatas = 5.356 − 73 = 5.283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cantidad = techo(candidatas_visibles × Top / 100)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E_total(5 %) = 73 + 265 = 338 &lt; 4 × 104 = 416</a:t>
            </a:r>
            <a:endParaRPr lang="en-US" sz="1200" dirty="0"/>
          </a:p>
        </p:txBody>
      </p:sp>
      <p:sp>
        <p:nvSpPr>
          <p:cNvPr id="5" name="Lista 41.3"/>
          <p:cNvSpPr txBox="1"/>
          <p:nvPr/>
        </p:nvSpPr>
        <p:spPr>
          <a:xfrm>
            <a:off x="6309360" y="1188720"/>
            <a:ext cx="539496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Orden por S descendente; desempate estable por identificadores; solo puntuaciones positivas.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Los filtros conservan solo parejas con ambos extremos visibles y cambian el denominador.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 &lt; 4N es una orientación de escala para nodo–enlace (Munzner), no garantía de legibilidad.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CollaborationViz (demo rcna) usa un máximo de 5 en sus predicciones, pero su artículo no justifica ese número y su código no usa nuestro denominador.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El 5 % es una decisión de diseño de UTECVis; no convierte el porcentaje en probabilidad.</a:t>
            </a:r>
            <a:endParaRPr lang="en-US" sz="1200" dirty="0"/>
          </a:p>
        </p:txBody>
      </p:sp>
      <p:pic>
        <p:nvPicPr>
          <p:cNvPr id="6" name="Captura 41.4" descr="/private/tmp/claude-501/-Users-renzoa--claude-spares-spare-QEcO9z/5d657745-61ee-4cc0-b06a-89114ff83a54/scratchpad/deck/img/app/C19-top5-colaborador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3200400"/>
            <a:ext cx="4242816" cy="26517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7" name="Texto 41.5"/>
          <p:cNvSpPr txBox="1"/>
          <p:nvPr/>
        </p:nvSpPr>
        <p:spPr>
          <a:xfrm>
            <a:off x="548640" y="592531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C19 · Top 5 %: 338 aristas visibles en la cohorte completa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A10 · B simulada y reescalado al máximo del escenario</a:t>
            </a:r>
            <a:endParaRPr lang="en-US" sz="2800" dirty="0"/>
          </a:p>
        </p:txBody>
      </p:sp>
      <p:sp>
        <p:nvSpPr>
          <p:cNvPr id="3" name="Tarjeta 42.1"/>
          <p:cNvSpPr/>
          <p:nvPr/>
        </p:nvSpPr>
        <p:spPr>
          <a:xfrm>
            <a:off x="548640" y="1188720"/>
            <a:ext cx="5486400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Fórmula 42.2"/>
          <p:cNvSpPr txBox="1"/>
          <p:nvPr/>
        </p:nvSpPr>
        <p:spPr>
          <a:xfrm>
            <a:off x="731520" y="1298448"/>
            <a:ext cx="512064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G_sim = (V, E_registradas ∪ E_sugeridas_mostradas)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B_sim = B(G_sim) con weight = None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radio = 7 + 44 × √(B_sim / máx B_sim)</a:t>
            </a:r>
            <a:endParaRPr lang="en-US" sz="1200" dirty="0"/>
          </a:p>
        </p:txBody>
      </p:sp>
      <p:graphicFrame>
        <p:nvGraphicFramePr>
          <p:cNvPr id="43" name="Tabla 42.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1188720"/>
                <a:gridCol w="1188720"/>
                <a:gridCol w="1005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Escenario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Aristas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 Jimmy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Máximo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Radio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Registradas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73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0,06796751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0,06796751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51,00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+ Top 1 %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126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0,08577835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0,09366122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49,11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+ Top 5 %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338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0,04148199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0,09458883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36,14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Lista 42.4"/>
          <p:cNvSpPr txBox="1"/>
          <p:nvPr/>
        </p:nvSpPr>
        <p:spPr>
          <a:xfrm>
            <a:off x="6309360" y="1188720"/>
            <a:ext cx="539496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V sigue teniendo 104 personas. Una pareja seleccionada fuera del Top que conserve su línea también entra en el escenario.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Los filtros cambian las sugerencias mostradas, pero no quitan aristas registradas ocultas del cálculo.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El máximo del escenario cambia, por eso B puede subir (0,0680 → 0,0858) y el radio bajar (51 → 49,11).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Web Worker: agrupación de cambios de 45 ms, reutilización si las parejas no cambian, descarte de resultados antiguos; verificado contra NetworkX en tests/browser_smoke.py.</a:t>
            </a:r>
            <a:endParaRPr lang="en-US" sz="1100" dirty="0"/>
          </a:p>
        </p:txBody>
      </p:sp>
      <p:pic>
        <p:nvPicPr>
          <p:cNvPr id="7" name="Captura 42.5" descr="/private/tmp/claude-501/-Users-renzoa--claude-spares-spare-QEcO9z/5d657745-61ee-4cc0-b06a-89114ff83a54/scratchpad/deck/img/app/C20-top1-puentes-jimm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5648" y="4389120"/>
            <a:ext cx="3072384" cy="19202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A11 · Comunidades conservadas y parámetros físicos</a:t>
            </a:r>
            <a:endParaRPr lang="en-US" sz="2800" dirty="0"/>
          </a:p>
        </p:txBody>
      </p:sp>
      <p:sp>
        <p:nvSpPr>
          <p:cNvPr id="3" name="Tarjeta 43.1"/>
          <p:cNvSpPr/>
          <p:nvPr/>
        </p:nvSpPr>
        <p:spPr>
          <a:xfrm>
            <a:off x="548640" y="1188720"/>
            <a:ext cx="548640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Fórmula 43.2"/>
          <p:cNvSpPr txBox="1"/>
          <p:nvPr/>
        </p:nvSpPr>
        <p:spPr>
          <a:xfrm>
            <a:off x="731520" y="1298448"/>
            <a:ext cx="5120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= (1/2m) Σ_ij [w_ij − s_i s_j/(2m)] δ(c_i, c_j)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comunidades con &gt; 1 persona · 57 unitarias</a:t>
            </a:r>
            <a:endParaRPr lang="en-US" sz="1200" dirty="0"/>
          </a:p>
        </p:txBody>
      </p:sp>
      <p:sp>
        <p:nvSpPr>
          <p:cNvPr id="5" name="Texto 43.3"/>
          <p:cNvSpPr txBox="1"/>
          <p:nvPr/>
        </p:nvSpPr>
        <p:spPr>
          <a:xfrm>
            <a:off x="548640" y="269748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m: suma de pesos; s_i: suma de pesos del nodo i; c_i: comunidad; δ = 1 si misma comunidad. Calculadas con agrupación voraz ponderada (NetworkX). Son resultados guardados en analysis.json, no los bloques del treemap ni una opción actual del menú.</a:t>
            </a:r>
            <a:endParaRPr lang="en-US" sz="1100" dirty="0"/>
          </a:p>
        </p:txBody>
      </p:sp>
      <p:graphicFrame>
        <p:nvGraphicFramePr>
          <p:cNvPr id="44" name="Tabla 43.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Parámetro D3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Valor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Finalidad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Distancia de enlace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r_A + r_B + 80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Espacio entre círculos conectados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Intensidad del enlace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0,12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Resorte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Repulsión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−130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Separación general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Colisión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radio + 4,5; 8 iteraciones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Sin solapamientos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Atracción al centro del bloque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0,08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Mantener dentro del departamento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Fricción / enfriamiento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0,50 / 0,035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Amortiguar y asentar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Semilla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0,42; 200 pasos iniciales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Posición inicial reproducible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Transiciones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300 ms; movimiento reducido respetado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Mantener contexto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</a:tbl>
          </a:graphicData>
        </a:graphic>
      </p:graphicFrame>
      <p:sp>
        <p:nvSpPr>
          <p:cNvPr id="7" name="Lista 43.5"/>
          <p:cNvSpPr txBox="1"/>
          <p:nvPr/>
        </p:nvSpPr>
        <p:spPr>
          <a:xfrm>
            <a:off x="548640" y="411480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Los parámetros modifican posiciones, no atributos académicos. La distancia dibujada no mide afinidad.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Las sugerencias no crean resortes en el layout; sí transmiten tracción al arrastrar un nodo conectado visualmente por ellas.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Límites rectangulares del departamento y corrección geométrica tras integrar el movimiento.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A12 · Referencias, créditos y reproducción</a:t>
            </a:r>
            <a:endParaRPr lang="en-US" sz="2800" dirty="0"/>
          </a:p>
        </p:txBody>
      </p:sp>
      <p:graphicFrame>
        <p:nvGraphicFramePr>
          <p:cNvPr id="45" name="Tabla 44.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29184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Referencia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Papel en UTECVis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Qué no afirmamos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CRIS UTEC — cris.utec.edu.pe/es/persons/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Fuente de perfiles y producción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Que CRIS entregue nuestras métricas o IDs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Bian et al. (2014) CollaborationViz, PLOS ONE 9(11): e111928; demo bianjiang.github.io/rcna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Red académica, RWR, enlaces sugeridos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Que valide nuestro 5 % o combinación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Harvard Catalyst Profiles — connects.catalyst.harvard.edu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Red de coautoría y explicación de relaciones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Codificación idéntica de tamaño/color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Duke, Webs of Minds and Ideas (today.duke.edu, 2017)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Antecedente de similitud académica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Que exista una demo operativa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Chaturvedi et al. (2014) Group-in-a-Box, CGF; Guerra Gómez, Force in a Box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Agrupar la red en regiones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Que reproduzcamos el plugin exacto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Brehmer y Munzner (2013) tipología multinivel de tareas; Munzner, Visualization Analysis &amp; Design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Separar propósito, datos y operaciones; E &lt; 4N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Que E &lt; 4N garantice legibilidad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Reimers y Gurevych (2019) Sentence-BERT; paraphrase-multilingual-MiniLM-L12-v2 (rev. e8f8c21)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Embeddings y comparación semántica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Que entrenemos o validemos afinidad científica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NetworkX — pagerank, betweenness_centrality, greedy_modularity_communities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Implementación de métricas y PPR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Que la API valide las sugerencias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Pradhan y Pal (2020) DRACoR, Knowledge-Based Systems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Antecedente de combinación de señales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Que tomemos de allí 60/30/10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D3 v7 (d3js.org); Flask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Visualización e interacción; servidor local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Que NetworkX forme parte de D3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</a:tbl>
          </a:graphicData>
        </a:graphic>
      </p:graphicFrame>
      <p:sp>
        <p:nvSpPr>
          <p:cNvPr id="4" name="Texto 44.2"/>
          <p:cNvSpPr txBox="1"/>
          <p:nvPr/>
        </p:nvSpPr>
        <p:spPr>
          <a:xfrm>
            <a:off x="548640" y="57607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Créditos de imágenes: capturas de CRIS UTEC (27-10-2026) y de la app UTECVis (commit 6fb18ab) en presentacion/evidencias/; E01–E08 históricos sin retocar. Reproducir ejemplos: README.md y GUIA_PROYECTO.md; valores en data/analysis.json y data/network.json.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TECVis">
  <a:themeElements>
    <a:clrScheme name="UTECVis">
      <a:dk1>
        <a:srgbClr val="173D43"/>
      </a:dk1>
      <a:lt1>
        <a:srgbClr val="FFFFFF"/>
      </a:lt1>
      <a:dk2>
        <a:srgbClr val="4A5E62"/>
      </a:dk2>
      <a:lt2>
        <a:srgbClr val="EEF4F2"/>
      </a:lt2>
      <a:accent1>
        <a:srgbClr val="1F7A6D"/>
      </a:accent1>
      <a:accent2>
        <a:srgbClr val="7A4FBF"/>
      </a:accent2>
      <a:accent3>
        <a:srgbClr val="C08A3E"/>
      </a:accent3>
      <a:accent4>
        <a:srgbClr val="9AD9BD"/>
      </a:accent4>
      <a:accent5>
        <a:srgbClr val="C0564D"/>
      </a:accent5>
      <a:accent6>
        <a:srgbClr val="8A9A9D"/>
      </a:accent6>
      <a:hlink>
        <a:srgbClr val="1F7A6D"/>
      </a:hlink>
      <a:folHlink>
        <a:srgbClr val="7A4FBF"/>
      </a:folHlink>
    </a:clrScheme>
    <a:fontScheme name="UTECVi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UTECVis: colaboración académica y afinidades</dc:title>
  <dc:subject>DS5343 Visualización de Datos</dc:subject>
  <dc:creator>Equipo UTECVis</dc:creator>
  <cp:lastModifiedBy>Equipo UTECVis</cp:lastModifiedBy>
  <cp:revision>1</cp:revision>
  <dcterms:created xsi:type="dcterms:W3CDTF">2026-10-27T12:10:18Z</dcterms:created>
  <dcterms:modified xsi:type="dcterms:W3CDTF">2026-10-27T12:10:18Z</dcterms:modified>
</cp:coreProperties>
</file>